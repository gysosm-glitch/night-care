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안녕하세요. 저희 팀은 밤늦게 혼자 귀가하는 충북대생을 위한 '밤길 지킴이' 에이전트를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[0:10–0:25] 사용자는 밤에 혼자 귀가하는 충북대생입니다. '걸어가도 괜찮을까, 막차는 있나, 택시비는 얼마나'를 여러 앱을 오가며 찾는 대신, 질문 한 번으로 답을 얻게 하는 것이 목표입니다. 예를 들어 사창동은 막차가 22시 30분이고, 걸으면 40분인데 길이 어둡습니다.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[0:25–0:45] 도구는 5개를 만들었고, 기본 계산기까지 6개입니다. read, compute, write 세 유형을 모두 갖췄습니다. 노란 칸 세 개, 안전한 장소 찾기, 걷기 위험도, 안심귀가 신청은 카페에서는 이름만 바꿔도 말이 안 되는, 저희 사용자에게만 필요한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[0:45–1:35] (웹 앱에서 직접 입력) '지금 밤 11시 10분인데 사창동까지 걸어가도 괜찮을까?' — 에이전트가 먼저 위험도를 계산해 82점 '높음'을 받고, 경로를 조회해 막차 22시 30분이 이미 끊긴 것을 확인한 뒤, 택시비를 심야 할증 포함 9,400원으로 계산합니다. 도구 펼치기를 눌러 실제 호출과 결과를 보여 드리겠습니다. 숫자는 전부 도구가 계산한 값이고 LLM이 지어낸 것이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[1:35–2:15] (웹 앱에서 직접 입력) 이번엔 데이터에 없는 '송정동'을 물어보겠습니다. 도구는 예외를 던지지 않고 '유효한 지역은 이 5곳'이라는 힌트를 담은 오류를 돌려주고, 에이전트는 그걸 읽고 사용자에게 다시 묻습니다. (시간이 남으면) 안심귀가 신청은 저장하기 전에 반드시 요약해서 확인을 받고, 사용자가 '응'이라고 해야만 confirmed=true로 저장됩니다.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[2:15–2:45, 교수님 질문 대비] 가장 특색 있는 도구인 걷기 위험도입니다. 시간대, 가로등 비율, CCTV 수, 인적, 도보 거리를 정해진 공식으로 더해 0~100점을 냅니다. 사창동 밤 11시 10분은 40+12+10+10+10으로 82점, 높음입니다. LLM에게 '위험한가'를 판단시키지 않고 코드로 계산해서 매번 같은 결과가 나오고, 이유 목록까지 같이 돌려줘서 답변에 근거를 붙일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[2:45–3:00] 정리하면, 밤길 지킴이는 질문 한 번으로 위험도, 안전한 장소, 막차와 택시비, 안심귀가 신청까지 해결합니다. 모든 숫자는 도구가 계산하고, 오류에서도 스스로 회복합니다. 질문 받겠습니다. (교수님이 도구를 지목하면 담당 팀원이 코드를 설명)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8503920" y="-1097280"/>
            <a:ext cx="4754880" cy="4754880"/>
          </a:xfrm>
          <a:prstGeom prst="ellipse">
            <a:avLst/>
          </a:prstGeom>
          <a:solidFill>
            <a:srgbClr val="1B2A4A"/>
          </a:solidFill>
          <a:ln w="12700">
            <a:solidFill>
              <a:srgbClr val="1B2A4A"/>
            </a:solidFill>
            <a:prstDash val="solid"/>
          </a:ln>
        </p:spPr>
      </p:sp>
      <p:pic>
        <p:nvPicPr>
          <p:cNvPr id="3" name="Image 0" descr="preencoded.png">    </p:cNvPr>
          <p:cNvPicPr>
            <a:picLocks noChangeAspect="1"/>
          </p:cNvPicPr>
          <p:nvPr/>
        </p:nvPicPr>
        <p:blipFill>
          <a:blip r:embed="rId1"/>
          <a:stretch>
            <a:fillRect/>
          </a:stretch>
        </p:blipFill>
        <p:spPr>
          <a:xfrm>
            <a:off x="9692640" y="822960"/>
            <a:ext cx="1463040" cy="1463040"/>
          </a:xfrm>
          <a:prstGeom prst="rect">
            <a:avLst/>
          </a:prstGeom>
        </p:spPr>
      </p:pic>
      <p:sp>
        <p:nvSpPr>
          <p:cNvPr id="4" name="Text 1"/>
          <p:cNvSpPr txBox="1"/>
          <p:nvPr/>
        </p:nvSpPr>
        <p:spPr>
          <a:xfrm>
            <a:off x="731520" y="1828800"/>
            <a:ext cx="8229600" cy="365760"/>
          </a:xfrm>
          <a:prstGeom prst="rect">
            <a:avLst/>
          </a:prstGeom>
          <a:noFill/>
          <a:ln/>
        </p:spPr>
        <p:txBody>
          <a:bodyPr wrap="square" lIns="0" tIns="0" rIns="0" bIns="0" rtlCol="0" anchor="ctr"/>
          <a:lstStyle/>
          <a:p>
            <a:pPr indent="0" marL="0">
              <a:buNone/>
            </a:pPr>
            <a:r>
              <a:rPr lang="en-US" sz="1600" b="1" dirty="0">
                <a:solidFill>
                  <a:srgbClr val="F5B700"/>
                </a:solidFill>
                <a:latin typeface="Malgun Gothic" pitchFamily="34" charset="0"/>
                <a:ea typeface="Malgun Gothic" pitchFamily="34" charset="-122"/>
                <a:cs typeface="Malgun Gothic" pitchFamily="34" charset="-120"/>
              </a:rPr>
              <a:t>LLM 도구 호출 에이전트 팀 프로젝트</a:t>
            </a:r>
            <a:endParaRPr lang="en-US" sz="1600" dirty="0"/>
          </a:p>
        </p:txBody>
      </p:sp>
      <p:sp>
        <p:nvSpPr>
          <p:cNvPr id="5" name="Text 2"/>
          <p:cNvSpPr txBox="1"/>
          <p:nvPr/>
        </p:nvSpPr>
        <p:spPr>
          <a:xfrm>
            <a:off x="731520" y="2286000"/>
            <a:ext cx="8229600" cy="1097280"/>
          </a:xfrm>
          <a:prstGeom prst="rect">
            <a:avLst/>
          </a:prstGeom>
          <a:noFill/>
          <a:ln/>
        </p:spPr>
        <p:txBody>
          <a:bodyPr wrap="square" lIns="0" tIns="0" rIns="0" bIns="0" rtlCol="0" anchor="ctr"/>
          <a:lstStyle/>
          <a:p>
            <a:pPr indent="0" marL="0">
              <a:buNone/>
            </a:pPr>
            <a:r>
              <a:rPr lang="en-US" sz="6000" b="1" dirty="0">
                <a:solidFill>
                  <a:srgbClr val="FFFFFF"/>
                </a:solidFill>
                <a:latin typeface="Malgun Gothic" pitchFamily="34" charset="0"/>
                <a:ea typeface="Malgun Gothic" pitchFamily="34" charset="-122"/>
                <a:cs typeface="Malgun Gothic" pitchFamily="34" charset="-120"/>
              </a:rPr>
              <a:t>밤길 지킴이</a:t>
            </a:r>
            <a:endParaRPr lang="en-US" sz="6000" dirty="0"/>
          </a:p>
        </p:txBody>
      </p:sp>
      <p:sp>
        <p:nvSpPr>
          <p:cNvPr id="6" name="Text 3"/>
          <p:cNvSpPr txBox="1"/>
          <p:nvPr/>
        </p:nvSpPr>
        <p:spPr>
          <a:xfrm>
            <a:off x="731520" y="3429000"/>
            <a:ext cx="9144000" cy="548640"/>
          </a:xfrm>
          <a:prstGeom prst="rect">
            <a:avLst/>
          </a:prstGeom>
          <a:noFill/>
          <a:ln/>
        </p:spPr>
        <p:txBody>
          <a:bodyPr wrap="square" lIns="0" tIns="0" rIns="0" bIns="0" rtlCol="0" anchor="ctr"/>
          <a:lstStyle/>
          <a:p>
            <a:pPr indent="0" marL="0">
              <a:buNone/>
            </a:pPr>
            <a:r>
              <a:rPr lang="en-US" sz="2400" dirty="0">
                <a:solidFill>
                  <a:srgbClr val="D5DCEB"/>
                </a:solidFill>
                <a:latin typeface="Malgun Gothic" pitchFamily="34" charset="0"/>
                <a:ea typeface="Malgun Gothic" pitchFamily="34" charset="-122"/>
                <a:cs typeface="Malgun Gothic" pitchFamily="34" charset="-120"/>
              </a:rPr>
              <a:t>충북대생을 위한 청주 밤길 안심 귀가 에이전트</a:t>
            </a:r>
            <a:endParaRPr lang="en-US" sz="2400" dirty="0"/>
          </a:p>
        </p:txBody>
      </p:sp>
      <p:sp>
        <p:nvSpPr>
          <p:cNvPr id="7" name="Text 4"/>
          <p:cNvSpPr txBox="1"/>
          <p:nvPr/>
        </p:nvSpPr>
        <p:spPr>
          <a:xfrm>
            <a:off x="731520" y="5120640"/>
            <a:ext cx="8229600" cy="365760"/>
          </a:xfrm>
          <a:prstGeom prst="rect">
            <a:avLst/>
          </a:prstGeom>
          <a:noFill/>
          <a:ln/>
        </p:spPr>
        <p:txBody>
          <a:bodyPr wrap="square" lIns="0" tIns="0" rIns="0" bIns="0" rtlCol="0" anchor="ctr"/>
          <a:lstStyle/>
          <a:p>
            <a:pPr indent="0" marL="0">
              <a:buNone/>
            </a:pPr>
            <a:r>
              <a:rPr lang="en-US" sz="1400" dirty="0">
                <a:solidFill>
                  <a:srgbClr val="8B96B0"/>
                </a:solidFill>
                <a:latin typeface="Malgun Gothic" pitchFamily="34" charset="0"/>
                <a:ea typeface="Malgun Gothic" pitchFamily="34" charset="-122"/>
                <a:cs typeface="Malgun Gothic" pitchFamily="34" charset="-120"/>
              </a:rPr>
              <a:t>Groq · openai/gpt-oss-120b · Python · Streamlit</a:t>
            </a:r>
            <a:endParaRPr lang="en-US" sz="1400" dirty="0"/>
          </a:p>
        </p:txBody>
      </p:sp>
      <p:sp>
        <p:nvSpPr>
          <p:cNvPr id="8" name="Text 5"/>
          <p:cNvSpPr txBox="1"/>
          <p:nvPr/>
        </p:nvSpPr>
        <p:spPr>
          <a:xfrm>
            <a:off x="731520" y="5532120"/>
            <a:ext cx="8229600" cy="365760"/>
          </a:xfrm>
          <a:prstGeom prst="rect">
            <a:avLst/>
          </a:prstGeom>
          <a:noFill/>
          <a:ln/>
        </p:spPr>
        <p:txBody>
          <a:bodyPr wrap="square" lIns="0" tIns="0" rIns="0" bIns="0" rtlCol="0" anchor="ctr"/>
          <a:lstStyle/>
          <a:p>
            <a:pPr indent="0" marL="0">
              <a:buNone/>
            </a:pPr>
            <a:r>
              <a:rPr lang="en-US" sz="1400" dirty="0">
                <a:solidFill>
                  <a:srgbClr val="8B96B0"/>
                </a:solidFill>
                <a:latin typeface="Malgun Gothic" pitchFamily="34" charset="0"/>
                <a:ea typeface="Malgun Gothic" pitchFamily="34" charset="-122"/>
                <a:cs typeface="Malgun Gothic" pitchFamily="34" charset="-120"/>
              </a:rPr>
              <a:t>팀원: 멤버 A · 멤버 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0F1B33"/>
                </a:solidFill>
                <a:latin typeface="Malgun Gothic" pitchFamily="34" charset="0"/>
                <a:ea typeface="Malgun Gothic" pitchFamily="34" charset="-122"/>
                <a:cs typeface="Malgun Gothic" pitchFamily="34" charset="-120"/>
              </a:rPr>
              <a:t>누구의, 어떤 문제인가</a:t>
            </a:r>
            <a:endParaRPr lang="en-US" sz="32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500" dirty="0">
                <a:solidFill>
                  <a:srgbClr val="5B6478"/>
                </a:solidFill>
                <a:latin typeface="Malgun Gothic" pitchFamily="34" charset="0"/>
                <a:ea typeface="Malgun Gothic" pitchFamily="34" charset="-122"/>
                <a:cs typeface="Malgun Gothic" pitchFamily="34" charset="-120"/>
              </a:rPr>
              <a:t>사용자와 문제를 한 문장으로</a:t>
            </a:r>
            <a:endParaRPr lang="en-US" sz="1500" dirty="0"/>
          </a:p>
        </p:txBody>
      </p:sp>
      <p:sp>
        <p:nvSpPr>
          <p:cNvPr id="4" name="Shape 2"/>
          <p:cNvSpPr/>
          <p:nvPr/>
        </p:nvSpPr>
        <p:spPr>
          <a:xfrm>
            <a:off x="548640" y="1737360"/>
            <a:ext cx="11064240" cy="1325880"/>
          </a:xfrm>
          <a:prstGeom prst="roundRect">
            <a:avLst>
              <a:gd name="adj" fmla="val 8276"/>
            </a:avLst>
          </a:prstGeom>
          <a:solidFill>
            <a:srgbClr val="0F1B33"/>
          </a:solidFill>
          <a:ln w="12700">
            <a:solidFill>
              <a:srgbClr val="0F1B33"/>
            </a:solidFill>
            <a:prstDash val="solid"/>
          </a:ln>
        </p:spPr>
      </p:sp>
      <p:sp>
        <p:nvSpPr>
          <p:cNvPr id="5" name="Text 3"/>
          <p:cNvSpPr txBox="1"/>
          <p:nvPr/>
        </p:nvSpPr>
        <p:spPr>
          <a:xfrm>
            <a:off x="914400" y="1874520"/>
            <a:ext cx="10332720" cy="1051560"/>
          </a:xfrm>
          <a:prstGeom prst="rect">
            <a:avLst/>
          </a:prstGeom>
          <a:noFill/>
          <a:ln/>
        </p:spPr>
        <p:txBody>
          <a:bodyPr wrap="square" lIns="0" tIns="0" rIns="0" bIns="0" rtlCol="0" anchor="ctr"/>
          <a:lstStyle/>
          <a:p>
            <a:pPr indent="0" marL="0">
              <a:buNone/>
            </a:pPr>
            <a:r>
              <a:rPr lang="en-US" sz="2100" dirty="0">
                <a:solidFill>
                  <a:srgbClr val="FFFFFF"/>
                </a:solidFill>
                <a:latin typeface="Malgun Gothic" pitchFamily="34" charset="0"/>
                <a:ea typeface="Malgun Gothic" pitchFamily="34" charset="-122"/>
                <a:cs typeface="Malgun Gothic" pitchFamily="34" charset="-120"/>
              </a:rPr>
              <a:t>밤 11시, 동아리·알바가 끝난 충북대생이 </a:t>
            </a:r>
            <a:pPr indent="0" marL="0">
              <a:buNone/>
            </a:pPr>
            <a:r>
              <a:rPr lang="en-US" sz="2100" b="1" dirty="0">
                <a:solidFill>
                  <a:srgbClr val="F5B700"/>
                </a:solidFill>
                <a:latin typeface="Malgun Gothic" pitchFamily="34" charset="0"/>
                <a:ea typeface="Malgun Gothic" pitchFamily="34" charset="-122"/>
                <a:cs typeface="Malgun Gothic" pitchFamily="34" charset="-120"/>
              </a:rPr>
              <a:t>"걸어가도 괜찮을까? 막차는? 택시비는?"</a:t>
            </a:r>
            <a:pPr indent="0" marL="0">
              <a:buNone/>
            </a:pPr>
            <a:r>
              <a:rPr lang="en-US" sz="2100" dirty="0">
                <a:solidFill>
                  <a:srgbClr val="FFFFFF"/>
                </a:solidFill>
                <a:latin typeface="Malgun Gothic" pitchFamily="34" charset="0"/>
                <a:ea typeface="Malgun Gothic" pitchFamily="34" charset="-122"/>
                <a:cs typeface="Malgun Gothic" pitchFamily="34" charset="-120"/>
              </a:rPr>
              <a:t>을 한 번에 묻고 답을 얻는다.</a:t>
            </a:r>
            <a:endParaRPr lang="en-US" sz="2100" dirty="0"/>
          </a:p>
        </p:txBody>
      </p:sp>
      <p:sp>
        <p:nvSpPr>
          <p:cNvPr id="6" name="Shape 4"/>
          <p:cNvSpPr/>
          <p:nvPr/>
        </p:nvSpPr>
        <p:spPr>
          <a:xfrm>
            <a:off x="548640" y="3429000"/>
            <a:ext cx="3520440" cy="2514600"/>
          </a:xfrm>
          <a:prstGeom prst="roundRect">
            <a:avLst>
              <a:gd name="adj" fmla="val 4364"/>
            </a:avLst>
          </a:prstGeom>
          <a:solidFill>
            <a:srgbClr val="F3F5F9"/>
          </a:solidFill>
          <a:ln w="12700">
            <a:solidFill>
              <a:srgbClr val="F3F5F9"/>
            </a:solidFill>
            <a:prstDash val="solid"/>
          </a:ln>
        </p:spPr>
      </p:sp>
      <p:sp>
        <p:nvSpPr>
          <p:cNvPr id="7" name="Shape 5"/>
          <p:cNvSpPr/>
          <p:nvPr/>
        </p:nvSpPr>
        <p:spPr>
          <a:xfrm>
            <a:off x="868680" y="3703320"/>
            <a:ext cx="685800" cy="685800"/>
          </a:xfrm>
          <a:prstGeom prst="ellipse">
            <a:avLst/>
          </a:prstGeom>
          <a:solidFill>
            <a:srgbClr val="F5B700"/>
          </a:solidFill>
          <a:ln w="12700">
            <a:solidFill>
              <a:srgbClr val="F5B700"/>
            </a:solidFill>
            <a:prstDash val="solid"/>
          </a:ln>
        </p:spPr>
      </p:sp>
      <p:pic>
        <p:nvPicPr>
          <p:cNvPr id="8" name="Image 0" descr="preencoded.png">    </p:cNvPr>
          <p:cNvPicPr>
            <a:picLocks noChangeAspect="1"/>
          </p:cNvPicPr>
          <p:nvPr/>
        </p:nvPicPr>
        <p:blipFill>
          <a:blip r:embed="rId1"/>
          <a:stretch>
            <a:fillRect/>
          </a:stretch>
        </p:blipFill>
        <p:spPr>
          <a:xfrm>
            <a:off x="1040130" y="3874770"/>
            <a:ext cx="342900" cy="342900"/>
          </a:xfrm>
          <a:prstGeom prst="rect">
            <a:avLst/>
          </a:prstGeom>
        </p:spPr>
      </p:pic>
      <p:sp>
        <p:nvSpPr>
          <p:cNvPr id="9" name="Text 6"/>
          <p:cNvSpPr txBox="1"/>
          <p:nvPr/>
        </p:nvSpPr>
        <p:spPr>
          <a:xfrm>
            <a:off x="868680" y="4526280"/>
            <a:ext cx="3017520" cy="731520"/>
          </a:xfrm>
          <a:prstGeom prst="rect">
            <a:avLst/>
          </a:prstGeom>
          <a:noFill/>
          <a:ln/>
        </p:spPr>
        <p:txBody>
          <a:bodyPr wrap="square" lIns="0" tIns="0" rIns="0" bIns="0" rtlCol="0" anchor="ctr"/>
          <a:lstStyle/>
          <a:p>
            <a:pPr indent="0" marL="0">
              <a:buNone/>
            </a:pPr>
            <a:r>
              <a:rPr lang="en-US" sz="4000" b="1" dirty="0">
                <a:solidFill>
                  <a:srgbClr val="0F1B33"/>
                </a:solidFill>
                <a:latin typeface="Malgun Gothic" pitchFamily="34" charset="0"/>
                <a:ea typeface="Malgun Gothic" pitchFamily="34" charset="-122"/>
                <a:cs typeface="Malgun Gothic" pitchFamily="34" charset="-120"/>
              </a:rPr>
              <a:t>22:30</a:t>
            </a:r>
            <a:endParaRPr lang="en-US" sz="4000" dirty="0"/>
          </a:p>
        </p:txBody>
      </p:sp>
      <p:sp>
        <p:nvSpPr>
          <p:cNvPr id="10" name="Text 7"/>
          <p:cNvSpPr txBox="1"/>
          <p:nvPr/>
        </p:nvSpPr>
        <p:spPr>
          <a:xfrm>
            <a:off x="868680" y="5257800"/>
            <a:ext cx="3017520" cy="320040"/>
          </a:xfrm>
          <a:prstGeom prst="rect">
            <a:avLst/>
          </a:prstGeom>
          <a:noFill/>
          <a:ln/>
        </p:spPr>
        <p:txBody>
          <a:bodyPr wrap="square" lIns="0" tIns="0" rIns="0" bIns="0" rtlCol="0" anchor="ctr"/>
          <a:lstStyle/>
          <a:p>
            <a:pPr indent="0" marL="0">
              <a:buNone/>
            </a:pPr>
            <a:r>
              <a:rPr lang="en-US" sz="1500" b="1" dirty="0">
                <a:solidFill>
                  <a:srgbClr val="0F1B33"/>
                </a:solidFill>
                <a:latin typeface="Malgun Gothic" pitchFamily="34" charset="0"/>
                <a:ea typeface="Malgun Gothic" pitchFamily="34" charset="-122"/>
                <a:cs typeface="Malgun Gothic" pitchFamily="34" charset="-120"/>
              </a:rPr>
              <a:t>사창동 막차 시간</a:t>
            </a:r>
            <a:endParaRPr lang="en-US" sz="1500" dirty="0"/>
          </a:p>
        </p:txBody>
      </p:sp>
      <p:sp>
        <p:nvSpPr>
          <p:cNvPr id="11" name="Text 8"/>
          <p:cNvSpPr txBox="1"/>
          <p:nvPr/>
        </p:nvSpPr>
        <p:spPr>
          <a:xfrm>
            <a:off x="868680" y="5577840"/>
            <a:ext cx="3017520" cy="274320"/>
          </a:xfrm>
          <a:prstGeom prst="rect">
            <a:avLst/>
          </a:prstGeom>
          <a:noFill/>
          <a:ln/>
        </p:spPr>
        <p:txBody>
          <a:bodyPr wrap="square" lIns="0" tIns="0" rIns="0" bIns="0" rtlCol="0" anchor="ctr"/>
          <a:lstStyle/>
          <a:p>
            <a:pPr indent="0" marL="0">
              <a:buNone/>
            </a:pPr>
            <a:r>
              <a:rPr lang="en-US" sz="1200" dirty="0">
                <a:solidFill>
                  <a:srgbClr val="5B6478"/>
                </a:solidFill>
                <a:latin typeface="Malgun Gothic" pitchFamily="34" charset="0"/>
                <a:ea typeface="Malgun Gothic" pitchFamily="34" charset="-122"/>
                <a:cs typeface="Malgun Gothic" pitchFamily="34" charset="-120"/>
              </a:rPr>
              <a:t>이후엔 버스 없음</a:t>
            </a:r>
            <a:endParaRPr lang="en-US" sz="1200" dirty="0"/>
          </a:p>
        </p:txBody>
      </p:sp>
      <p:sp>
        <p:nvSpPr>
          <p:cNvPr id="12" name="Shape 9"/>
          <p:cNvSpPr/>
          <p:nvPr/>
        </p:nvSpPr>
        <p:spPr>
          <a:xfrm>
            <a:off x="4297680" y="3429000"/>
            <a:ext cx="3520440" cy="2514600"/>
          </a:xfrm>
          <a:prstGeom prst="roundRect">
            <a:avLst>
              <a:gd name="adj" fmla="val 4364"/>
            </a:avLst>
          </a:prstGeom>
          <a:solidFill>
            <a:srgbClr val="F3F5F9"/>
          </a:solidFill>
          <a:ln w="12700">
            <a:solidFill>
              <a:srgbClr val="F3F5F9"/>
            </a:solidFill>
            <a:prstDash val="solid"/>
          </a:ln>
        </p:spPr>
      </p:sp>
      <p:sp>
        <p:nvSpPr>
          <p:cNvPr id="13" name="Shape 10"/>
          <p:cNvSpPr/>
          <p:nvPr/>
        </p:nvSpPr>
        <p:spPr>
          <a:xfrm>
            <a:off x="4617720" y="3703320"/>
            <a:ext cx="685800" cy="685800"/>
          </a:xfrm>
          <a:prstGeom prst="ellipse">
            <a:avLst/>
          </a:prstGeom>
          <a:solidFill>
            <a:srgbClr val="F5B700"/>
          </a:solidFill>
          <a:ln w="12700">
            <a:solidFill>
              <a:srgbClr val="F5B700"/>
            </a:solidFill>
            <a:prstDash val="solid"/>
          </a:ln>
        </p:spPr>
      </p:sp>
      <p:pic>
        <p:nvPicPr>
          <p:cNvPr id="14" name="Image 1" descr="preencoded.png">    </p:cNvPr>
          <p:cNvPicPr>
            <a:picLocks noChangeAspect="1"/>
          </p:cNvPicPr>
          <p:nvPr/>
        </p:nvPicPr>
        <p:blipFill>
          <a:blip r:embed="rId2"/>
          <a:stretch>
            <a:fillRect/>
          </a:stretch>
        </p:blipFill>
        <p:spPr>
          <a:xfrm>
            <a:off x="4789170" y="3874770"/>
            <a:ext cx="342900" cy="342900"/>
          </a:xfrm>
          <a:prstGeom prst="rect">
            <a:avLst/>
          </a:prstGeom>
        </p:spPr>
      </p:pic>
      <p:sp>
        <p:nvSpPr>
          <p:cNvPr id="15" name="Text 11"/>
          <p:cNvSpPr txBox="1"/>
          <p:nvPr/>
        </p:nvSpPr>
        <p:spPr>
          <a:xfrm>
            <a:off x="4617720" y="4526280"/>
            <a:ext cx="3017520" cy="731520"/>
          </a:xfrm>
          <a:prstGeom prst="rect">
            <a:avLst/>
          </a:prstGeom>
          <a:noFill/>
          <a:ln/>
        </p:spPr>
        <p:txBody>
          <a:bodyPr wrap="square" lIns="0" tIns="0" rIns="0" bIns="0" rtlCol="0" anchor="ctr"/>
          <a:lstStyle/>
          <a:p>
            <a:pPr indent="0" marL="0">
              <a:buNone/>
            </a:pPr>
            <a:r>
              <a:rPr lang="en-US" sz="4000" b="1" dirty="0">
                <a:solidFill>
                  <a:srgbClr val="0F1B33"/>
                </a:solidFill>
                <a:latin typeface="Malgun Gothic" pitchFamily="34" charset="0"/>
                <a:ea typeface="Malgun Gothic" pitchFamily="34" charset="-122"/>
                <a:cs typeface="Malgun Gothic" pitchFamily="34" charset="-120"/>
              </a:rPr>
              <a:t>40분</a:t>
            </a:r>
            <a:endParaRPr lang="en-US" sz="4000" dirty="0"/>
          </a:p>
        </p:txBody>
      </p:sp>
      <p:sp>
        <p:nvSpPr>
          <p:cNvPr id="16" name="Text 12"/>
          <p:cNvSpPr txBox="1"/>
          <p:nvPr/>
        </p:nvSpPr>
        <p:spPr>
          <a:xfrm>
            <a:off x="4617720" y="5257800"/>
            <a:ext cx="3017520" cy="320040"/>
          </a:xfrm>
          <a:prstGeom prst="rect">
            <a:avLst/>
          </a:prstGeom>
          <a:noFill/>
          <a:ln/>
        </p:spPr>
        <p:txBody>
          <a:bodyPr wrap="square" lIns="0" tIns="0" rIns="0" bIns="0" rtlCol="0" anchor="ctr"/>
          <a:lstStyle/>
          <a:p>
            <a:pPr indent="0" marL="0">
              <a:buNone/>
            </a:pPr>
            <a:r>
              <a:rPr lang="en-US" sz="1500" b="1" dirty="0">
                <a:solidFill>
                  <a:srgbClr val="0F1B33"/>
                </a:solidFill>
                <a:latin typeface="Malgun Gothic" pitchFamily="34" charset="0"/>
                <a:ea typeface="Malgun Gothic" pitchFamily="34" charset="-122"/>
                <a:cs typeface="Malgun Gothic" pitchFamily="34" charset="-120"/>
              </a:rPr>
              <a:t>정문 → 사창동 도보</a:t>
            </a:r>
            <a:endParaRPr lang="en-US" sz="1500" dirty="0"/>
          </a:p>
        </p:txBody>
      </p:sp>
      <p:sp>
        <p:nvSpPr>
          <p:cNvPr id="17" name="Text 13"/>
          <p:cNvSpPr txBox="1"/>
          <p:nvPr/>
        </p:nvSpPr>
        <p:spPr>
          <a:xfrm>
            <a:off x="4617720" y="5577840"/>
            <a:ext cx="3017520" cy="274320"/>
          </a:xfrm>
          <a:prstGeom prst="rect">
            <a:avLst/>
          </a:prstGeom>
          <a:noFill/>
          <a:ln/>
        </p:spPr>
        <p:txBody>
          <a:bodyPr wrap="square" lIns="0" tIns="0" rIns="0" bIns="0" rtlCol="0" anchor="ctr"/>
          <a:lstStyle/>
          <a:p>
            <a:pPr indent="0" marL="0">
              <a:buNone/>
            </a:pPr>
            <a:r>
              <a:rPr lang="en-US" sz="1200" dirty="0">
                <a:solidFill>
                  <a:srgbClr val="5B6478"/>
                </a:solidFill>
                <a:latin typeface="Malgun Gothic" pitchFamily="34" charset="0"/>
                <a:ea typeface="Malgun Gothic" pitchFamily="34" charset="-122"/>
                <a:cs typeface="Malgun Gothic" pitchFamily="34" charset="-120"/>
              </a:rPr>
              <a:t>가로등 60% · CCTV 5대</a:t>
            </a:r>
            <a:endParaRPr lang="en-US" sz="1200" dirty="0"/>
          </a:p>
        </p:txBody>
      </p:sp>
      <p:sp>
        <p:nvSpPr>
          <p:cNvPr id="18" name="Shape 14"/>
          <p:cNvSpPr/>
          <p:nvPr/>
        </p:nvSpPr>
        <p:spPr>
          <a:xfrm>
            <a:off x="8046720" y="3429000"/>
            <a:ext cx="3520440" cy="2514600"/>
          </a:xfrm>
          <a:prstGeom prst="roundRect">
            <a:avLst>
              <a:gd name="adj" fmla="val 4364"/>
            </a:avLst>
          </a:prstGeom>
          <a:solidFill>
            <a:srgbClr val="F3F5F9"/>
          </a:solidFill>
          <a:ln w="12700">
            <a:solidFill>
              <a:srgbClr val="F3F5F9"/>
            </a:solidFill>
            <a:prstDash val="solid"/>
          </a:ln>
        </p:spPr>
      </p:sp>
      <p:sp>
        <p:nvSpPr>
          <p:cNvPr id="19" name="Shape 15"/>
          <p:cNvSpPr/>
          <p:nvPr/>
        </p:nvSpPr>
        <p:spPr>
          <a:xfrm>
            <a:off x="8366760" y="3703320"/>
            <a:ext cx="685800" cy="685800"/>
          </a:xfrm>
          <a:prstGeom prst="ellipse">
            <a:avLst/>
          </a:prstGeom>
          <a:solidFill>
            <a:srgbClr val="F5B700"/>
          </a:solidFill>
          <a:ln w="12700">
            <a:solidFill>
              <a:srgbClr val="F5B700"/>
            </a:solidFill>
            <a:prstDash val="solid"/>
          </a:ln>
        </p:spPr>
      </p:sp>
      <p:pic>
        <p:nvPicPr>
          <p:cNvPr id="20" name="Image 2" descr="preencoded.png">    </p:cNvPr>
          <p:cNvPicPr>
            <a:picLocks noChangeAspect="1"/>
          </p:cNvPicPr>
          <p:nvPr/>
        </p:nvPicPr>
        <p:blipFill>
          <a:blip r:embed="rId3"/>
          <a:stretch>
            <a:fillRect/>
          </a:stretch>
        </p:blipFill>
        <p:spPr>
          <a:xfrm>
            <a:off x="8538210" y="3874770"/>
            <a:ext cx="342900" cy="342900"/>
          </a:xfrm>
          <a:prstGeom prst="rect">
            <a:avLst/>
          </a:prstGeom>
        </p:spPr>
      </p:pic>
      <p:sp>
        <p:nvSpPr>
          <p:cNvPr id="21" name="Text 16"/>
          <p:cNvSpPr txBox="1"/>
          <p:nvPr/>
        </p:nvSpPr>
        <p:spPr>
          <a:xfrm>
            <a:off x="8366760" y="4526280"/>
            <a:ext cx="3017520" cy="731520"/>
          </a:xfrm>
          <a:prstGeom prst="rect">
            <a:avLst/>
          </a:prstGeom>
          <a:noFill/>
          <a:ln/>
        </p:spPr>
        <p:txBody>
          <a:bodyPr wrap="square" lIns="0" tIns="0" rIns="0" bIns="0" rtlCol="0" anchor="ctr"/>
          <a:lstStyle/>
          <a:p>
            <a:pPr indent="0" marL="0">
              <a:buNone/>
            </a:pPr>
            <a:r>
              <a:rPr lang="en-US" sz="4000" b="1" dirty="0">
                <a:solidFill>
                  <a:srgbClr val="0F1B33"/>
                </a:solidFill>
                <a:latin typeface="Malgun Gothic" pitchFamily="34" charset="0"/>
                <a:ea typeface="Malgun Gothic" pitchFamily="34" charset="-122"/>
                <a:cs typeface="Malgun Gothic" pitchFamily="34" charset="-120"/>
              </a:rPr>
              <a:t>9,400원</a:t>
            </a:r>
            <a:endParaRPr lang="en-US" sz="4000" dirty="0"/>
          </a:p>
        </p:txBody>
      </p:sp>
      <p:sp>
        <p:nvSpPr>
          <p:cNvPr id="22" name="Text 17"/>
          <p:cNvSpPr txBox="1"/>
          <p:nvPr/>
        </p:nvSpPr>
        <p:spPr>
          <a:xfrm>
            <a:off x="8366760" y="5257800"/>
            <a:ext cx="3017520" cy="320040"/>
          </a:xfrm>
          <a:prstGeom prst="rect">
            <a:avLst/>
          </a:prstGeom>
          <a:noFill/>
          <a:ln/>
        </p:spPr>
        <p:txBody>
          <a:bodyPr wrap="square" lIns="0" tIns="0" rIns="0" bIns="0" rtlCol="0" anchor="ctr"/>
          <a:lstStyle/>
          <a:p>
            <a:pPr indent="0" marL="0">
              <a:buNone/>
            </a:pPr>
            <a:r>
              <a:rPr lang="en-US" sz="1500" b="1" dirty="0">
                <a:solidFill>
                  <a:srgbClr val="0F1B33"/>
                </a:solidFill>
                <a:latin typeface="Malgun Gothic" pitchFamily="34" charset="0"/>
                <a:ea typeface="Malgun Gothic" pitchFamily="34" charset="-122"/>
                <a:cs typeface="Malgun Gothic" pitchFamily="34" charset="-120"/>
              </a:rPr>
              <a:t>같은 길 심야 택시</a:t>
            </a:r>
            <a:endParaRPr lang="en-US" sz="1500" dirty="0"/>
          </a:p>
        </p:txBody>
      </p:sp>
      <p:sp>
        <p:nvSpPr>
          <p:cNvPr id="23" name="Text 18"/>
          <p:cNvSpPr txBox="1"/>
          <p:nvPr/>
        </p:nvSpPr>
        <p:spPr>
          <a:xfrm>
            <a:off x="8366760" y="5577840"/>
            <a:ext cx="3017520" cy="274320"/>
          </a:xfrm>
          <a:prstGeom prst="rect">
            <a:avLst/>
          </a:prstGeom>
          <a:noFill/>
          <a:ln/>
        </p:spPr>
        <p:txBody>
          <a:bodyPr wrap="square" lIns="0" tIns="0" rIns="0" bIns="0" rtlCol="0" anchor="ctr"/>
          <a:lstStyle/>
          <a:p>
            <a:pPr indent="0" marL="0">
              <a:buNone/>
            </a:pPr>
            <a:r>
              <a:rPr lang="en-US" sz="1200" dirty="0">
                <a:solidFill>
                  <a:srgbClr val="5B6478"/>
                </a:solidFill>
                <a:latin typeface="Malgun Gothic" pitchFamily="34" charset="0"/>
                <a:ea typeface="Malgun Gothic" pitchFamily="34" charset="-122"/>
                <a:cs typeface="Malgun Gothic" pitchFamily="34" charset="-120"/>
              </a:rPr>
              <a:t>22–04시 20% 할증</a:t>
            </a:r>
            <a:endParaRPr lang="en-US" sz="1200" dirty="0"/>
          </a:p>
        </p:txBody>
      </p:sp>
      <p:sp>
        <p:nvSpPr>
          <p:cNvPr id="24" name="Text 19"/>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478"/>
                </a:solidFill>
                <a:latin typeface="Malgun Gothic" pitchFamily="34" charset="0"/>
                <a:ea typeface="Malgun Gothic" pitchFamily="34" charset="-122"/>
                <a:cs typeface="Malgun Gothic" pitchFamily="34" charset="-120"/>
              </a:rPr>
              <a:t>* 모든 수치는 데모용 가상 데이터</a:t>
            </a:r>
            <a:endParaRPr lang="en-US" sz="1000" dirty="0"/>
          </a:p>
        </p:txBody>
      </p:sp>
      <p:sp>
        <p:nvSpPr>
          <p:cNvPr id="25" name="Text 20"/>
          <p:cNvSpPr txBox="1"/>
          <p:nvPr/>
        </p:nvSpPr>
        <p:spPr>
          <a:xfrm>
            <a:off x="10972800" y="6400800"/>
            <a:ext cx="731520" cy="274320"/>
          </a:xfrm>
          <a:prstGeom prst="rect">
            <a:avLst/>
          </a:prstGeom>
          <a:noFill/>
          <a:ln/>
        </p:spPr>
        <p:txBody>
          <a:bodyPr wrap="square" lIns="0" tIns="0" rIns="0" bIns="0" rtlCol="0" anchor="ctr"/>
          <a:lstStyle/>
          <a:p>
            <a:pPr algn="r" indent="0" marL="0">
              <a:buNone/>
            </a:pPr>
            <a:r>
              <a:rPr lang="en-US" sz="1000" dirty="0">
                <a:solidFill>
                  <a:srgbClr val="5B6478"/>
                </a:solidFill>
                <a:latin typeface="Malgun Gothic" pitchFamily="34" charset="0"/>
                <a:ea typeface="Malgun Gothic" pitchFamily="34" charset="-122"/>
                <a:cs typeface="Malgun Gothic" pitchFamily="34" charset="-120"/>
              </a:rPr>
              <a:t>2 / 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0F1B33"/>
                </a:solidFill>
                <a:latin typeface="Malgun Gothic" pitchFamily="34" charset="0"/>
                <a:ea typeface="Malgun Gothic" pitchFamily="34" charset="-122"/>
                <a:cs typeface="Malgun Gothic" pitchFamily="34" charset="-120"/>
              </a:rPr>
              <a:t>도구 5개 + 계산기</a:t>
            </a:r>
            <a:endParaRPr lang="en-US" sz="32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500" dirty="0">
                <a:solidFill>
                  <a:srgbClr val="5B6478"/>
                </a:solidFill>
                <a:latin typeface="Malgun Gothic" pitchFamily="34" charset="0"/>
                <a:ea typeface="Malgun Gothic" pitchFamily="34" charset="-122"/>
                <a:cs typeface="Malgun Gothic" pitchFamily="34" charset="-120"/>
              </a:rPr>
              <a:t>LLM은 사실을 지어내지 않고, 반드시 도구로 확인한다</a:t>
            </a:r>
            <a:endParaRPr lang="en-US" sz="1500" dirty="0"/>
          </a:p>
        </p:txBody>
      </p:sp>
      <p:sp>
        <p:nvSpPr>
          <p:cNvPr id="4" name="Shape 2"/>
          <p:cNvSpPr/>
          <p:nvPr/>
        </p:nvSpPr>
        <p:spPr>
          <a:xfrm>
            <a:off x="548640" y="1783080"/>
            <a:ext cx="5440680" cy="1280160"/>
          </a:xfrm>
          <a:prstGeom prst="roundRect">
            <a:avLst>
              <a:gd name="adj" fmla="val 7143"/>
            </a:avLst>
          </a:prstGeom>
          <a:solidFill>
            <a:srgbClr val="FFF4CC"/>
          </a:solidFill>
          <a:ln w="12700">
            <a:solidFill>
              <a:srgbClr val="FFF4CC"/>
            </a:solidFill>
            <a:prstDash val="solid"/>
          </a:ln>
        </p:spPr>
      </p:sp>
      <p:sp>
        <p:nvSpPr>
          <p:cNvPr id="5" name="Shape 3"/>
          <p:cNvSpPr/>
          <p:nvPr/>
        </p:nvSpPr>
        <p:spPr>
          <a:xfrm>
            <a:off x="822960" y="2075688"/>
            <a:ext cx="694944" cy="694944"/>
          </a:xfrm>
          <a:prstGeom prst="ellipse">
            <a:avLst/>
          </a:prstGeom>
          <a:solidFill>
            <a:srgbClr val="0F1B33"/>
          </a:solidFill>
          <a:ln w="12700">
            <a:solidFill>
              <a:srgbClr val="0F1B33"/>
            </a:solidFill>
            <a:prstDash val="solid"/>
          </a:ln>
        </p:spPr>
      </p:sp>
      <p:pic>
        <p:nvPicPr>
          <p:cNvPr id="6" name="Image 0" descr="preencoded.png">    </p:cNvPr>
          <p:cNvPicPr>
            <a:picLocks noChangeAspect="1"/>
          </p:cNvPicPr>
          <p:nvPr/>
        </p:nvPicPr>
        <p:blipFill>
          <a:blip r:embed="rId1"/>
          <a:stretch>
            <a:fillRect/>
          </a:stretch>
        </p:blipFill>
        <p:spPr>
          <a:xfrm>
            <a:off x="996696" y="2249424"/>
            <a:ext cx="347472" cy="347472"/>
          </a:xfrm>
          <a:prstGeom prst="rect">
            <a:avLst/>
          </a:prstGeom>
        </p:spPr>
      </p:pic>
      <p:sp>
        <p:nvSpPr>
          <p:cNvPr id="7" name="Text 4"/>
          <p:cNvSpPr txBox="1"/>
          <p:nvPr/>
        </p:nvSpPr>
        <p:spPr>
          <a:xfrm>
            <a:off x="1737360" y="1984248"/>
            <a:ext cx="2926080" cy="411480"/>
          </a:xfrm>
          <a:prstGeom prst="rect">
            <a:avLst/>
          </a:prstGeom>
          <a:noFill/>
          <a:ln/>
        </p:spPr>
        <p:txBody>
          <a:bodyPr wrap="square" lIns="0" tIns="0" rIns="0" bIns="0" rtlCol="0" anchor="ctr"/>
          <a:lstStyle/>
          <a:p>
            <a:pPr indent="0" marL="0">
              <a:buNone/>
            </a:pPr>
            <a:r>
              <a:rPr lang="en-US" sz="1700" b="1" dirty="0">
                <a:solidFill>
                  <a:srgbClr val="0F1B33"/>
                </a:solidFill>
                <a:latin typeface="Consolas" pitchFamily="34" charset="0"/>
                <a:ea typeface="Consolas" pitchFamily="34" charset="-122"/>
                <a:cs typeface="Consolas" pitchFamily="34" charset="-120"/>
              </a:rPr>
              <a:t>find_safe_spots</a:t>
            </a:r>
            <a:endParaRPr lang="en-US" sz="1700" dirty="0"/>
          </a:p>
        </p:txBody>
      </p:sp>
      <p:sp>
        <p:nvSpPr>
          <p:cNvPr id="8" name="Shape 5"/>
          <p:cNvSpPr/>
          <p:nvPr/>
        </p:nvSpPr>
        <p:spPr>
          <a:xfrm>
            <a:off x="4709160" y="2011680"/>
            <a:ext cx="1005840" cy="329184"/>
          </a:xfrm>
          <a:prstGeom prst="roundRect">
            <a:avLst>
              <a:gd name="adj" fmla="val 50000"/>
            </a:avLst>
          </a:prstGeom>
          <a:solidFill>
            <a:srgbClr val="2F6FD6"/>
          </a:solidFill>
          <a:ln w="12700">
            <a:solidFill>
              <a:srgbClr val="2F6FD6"/>
            </a:solidFill>
            <a:prstDash val="solid"/>
          </a:ln>
        </p:spPr>
      </p:sp>
      <p:sp>
        <p:nvSpPr>
          <p:cNvPr id="9" name="Text 6"/>
          <p:cNvSpPr txBox="1"/>
          <p:nvPr/>
        </p:nvSpPr>
        <p:spPr>
          <a:xfrm>
            <a:off x="4709160" y="2011680"/>
            <a:ext cx="10058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read</a:t>
            </a:r>
            <a:endParaRPr lang="en-US" sz="1100" dirty="0"/>
          </a:p>
        </p:txBody>
      </p:sp>
      <p:sp>
        <p:nvSpPr>
          <p:cNvPr id="10" name="Text 7"/>
          <p:cNvSpPr txBox="1"/>
          <p:nvPr/>
        </p:nvSpPr>
        <p:spPr>
          <a:xfrm>
            <a:off x="1737360" y="2441448"/>
            <a:ext cx="2880360" cy="365760"/>
          </a:xfrm>
          <a:prstGeom prst="rect">
            <a:avLst/>
          </a:prstGeom>
          <a:noFill/>
          <a:ln/>
        </p:spPr>
        <p:txBody>
          <a:bodyPr wrap="square" lIns="0" tIns="0" rIns="0" bIns="0" rtlCol="0" anchor="ctr"/>
          <a:lstStyle/>
          <a:p>
            <a:pPr indent="0" marL="0">
              <a:buNone/>
            </a:pPr>
            <a:r>
              <a:rPr lang="en-US" sz="1300" dirty="0">
                <a:solidFill>
                  <a:srgbClr val="5B6478"/>
                </a:solidFill>
                <a:latin typeface="Malgun Gothic" pitchFamily="34" charset="0"/>
                <a:ea typeface="Malgun Gothic" pitchFamily="34" charset="-122"/>
                <a:cs typeface="Malgun Gothic" pitchFamily="34" charset="-120"/>
              </a:rPr>
              <a:t>열린 지구대·편의점·안심지킴이집</a:t>
            </a:r>
            <a:endParaRPr lang="en-US" sz="1300" dirty="0"/>
          </a:p>
        </p:txBody>
      </p:sp>
      <p:sp>
        <p:nvSpPr>
          <p:cNvPr id="11" name="Text 8"/>
          <p:cNvSpPr txBox="1"/>
          <p:nvPr/>
        </p:nvSpPr>
        <p:spPr>
          <a:xfrm>
            <a:off x="4709160" y="2468880"/>
            <a:ext cx="1005840" cy="320040"/>
          </a:xfrm>
          <a:prstGeom prst="rect">
            <a:avLst/>
          </a:prstGeom>
          <a:noFill/>
          <a:ln/>
        </p:spPr>
        <p:txBody>
          <a:bodyPr wrap="square" lIns="0" tIns="0" rIns="0" bIns="0" rtlCol="0" anchor="ctr"/>
          <a:lstStyle/>
          <a:p>
            <a:pPr algn="ctr" indent="0" marL="0">
              <a:buNone/>
            </a:pPr>
            <a:r>
              <a:rPr lang="en-US" sz="1100" dirty="0">
                <a:solidFill>
                  <a:srgbClr val="5B6478"/>
                </a:solidFill>
                <a:latin typeface="Malgun Gothic" pitchFamily="34" charset="0"/>
                <a:ea typeface="Malgun Gothic" pitchFamily="34" charset="-122"/>
                <a:cs typeface="Malgun Gothic" pitchFamily="34" charset="-120"/>
              </a:rPr>
              <a:t>담당 A</a:t>
            </a:r>
            <a:endParaRPr lang="en-US" sz="1100" dirty="0"/>
          </a:p>
        </p:txBody>
      </p:sp>
      <p:sp>
        <p:nvSpPr>
          <p:cNvPr id="12" name="Shape 9"/>
          <p:cNvSpPr/>
          <p:nvPr/>
        </p:nvSpPr>
        <p:spPr>
          <a:xfrm>
            <a:off x="6172200" y="1783080"/>
            <a:ext cx="5440680" cy="1280160"/>
          </a:xfrm>
          <a:prstGeom prst="roundRect">
            <a:avLst>
              <a:gd name="adj" fmla="val 7143"/>
            </a:avLst>
          </a:prstGeom>
          <a:solidFill>
            <a:srgbClr val="F3F5F9"/>
          </a:solidFill>
          <a:ln w="12700">
            <a:solidFill>
              <a:srgbClr val="F3F5F9"/>
            </a:solidFill>
            <a:prstDash val="solid"/>
          </a:ln>
        </p:spPr>
      </p:sp>
      <p:sp>
        <p:nvSpPr>
          <p:cNvPr id="13" name="Shape 10"/>
          <p:cNvSpPr/>
          <p:nvPr/>
        </p:nvSpPr>
        <p:spPr>
          <a:xfrm>
            <a:off x="6446520" y="2075688"/>
            <a:ext cx="694944" cy="694944"/>
          </a:xfrm>
          <a:prstGeom prst="ellipse">
            <a:avLst/>
          </a:prstGeom>
          <a:solidFill>
            <a:srgbClr val="0F1B33"/>
          </a:solidFill>
          <a:ln w="12700">
            <a:solidFill>
              <a:srgbClr val="0F1B33"/>
            </a:solidFill>
            <a:prstDash val="solid"/>
          </a:ln>
        </p:spPr>
      </p:sp>
      <p:pic>
        <p:nvPicPr>
          <p:cNvPr id="14" name="Image 1" descr="preencoded.png">    </p:cNvPr>
          <p:cNvPicPr>
            <a:picLocks noChangeAspect="1"/>
          </p:cNvPicPr>
          <p:nvPr/>
        </p:nvPicPr>
        <p:blipFill>
          <a:blip r:embed="rId2"/>
          <a:stretch>
            <a:fillRect/>
          </a:stretch>
        </p:blipFill>
        <p:spPr>
          <a:xfrm>
            <a:off x="6620256" y="2249424"/>
            <a:ext cx="347472" cy="347472"/>
          </a:xfrm>
          <a:prstGeom prst="rect">
            <a:avLst/>
          </a:prstGeom>
        </p:spPr>
      </p:pic>
      <p:sp>
        <p:nvSpPr>
          <p:cNvPr id="15" name="Text 11"/>
          <p:cNvSpPr txBox="1"/>
          <p:nvPr/>
        </p:nvSpPr>
        <p:spPr>
          <a:xfrm>
            <a:off x="7360920" y="1984248"/>
            <a:ext cx="2926080" cy="411480"/>
          </a:xfrm>
          <a:prstGeom prst="rect">
            <a:avLst/>
          </a:prstGeom>
          <a:noFill/>
          <a:ln/>
        </p:spPr>
        <p:txBody>
          <a:bodyPr wrap="square" lIns="0" tIns="0" rIns="0" bIns="0" rtlCol="0" anchor="ctr"/>
          <a:lstStyle/>
          <a:p>
            <a:pPr indent="0" marL="0">
              <a:buNone/>
            </a:pPr>
            <a:r>
              <a:rPr lang="en-US" sz="1700" b="1" dirty="0">
                <a:solidFill>
                  <a:srgbClr val="0F1B33"/>
                </a:solidFill>
                <a:latin typeface="Consolas" pitchFamily="34" charset="0"/>
                <a:ea typeface="Consolas" pitchFamily="34" charset="-122"/>
                <a:cs typeface="Consolas" pitchFamily="34" charset="-120"/>
              </a:rPr>
              <a:t>get_route</a:t>
            </a:r>
            <a:endParaRPr lang="en-US" sz="1700" dirty="0"/>
          </a:p>
        </p:txBody>
      </p:sp>
      <p:sp>
        <p:nvSpPr>
          <p:cNvPr id="16" name="Shape 12"/>
          <p:cNvSpPr/>
          <p:nvPr/>
        </p:nvSpPr>
        <p:spPr>
          <a:xfrm>
            <a:off x="10332720" y="2011680"/>
            <a:ext cx="1005840" cy="329184"/>
          </a:xfrm>
          <a:prstGeom prst="roundRect">
            <a:avLst>
              <a:gd name="adj" fmla="val 50000"/>
            </a:avLst>
          </a:prstGeom>
          <a:solidFill>
            <a:srgbClr val="2F6FD6"/>
          </a:solidFill>
          <a:ln w="12700">
            <a:solidFill>
              <a:srgbClr val="2F6FD6"/>
            </a:solidFill>
            <a:prstDash val="solid"/>
          </a:ln>
        </p:spPr>
      </p:sp>
      <p:sp>
        <p:nvSpPr>
          <p:cNvPr id="17" name="Text 13"/>
          <p:cNvSpPr txBox="1"/>
          <p:nvPr/>
        </p:nvSpPr>
        <p:spPr>
          <a:xfrm>
            <a:off x="10332720" y="2011680"/>
            <a:ext cx="10058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read</a:t>
            </a:r>
            <a:endParaRPr lang="en-US" sz="1100" dirty="0"/>
          </a:p>
        </p:txBody>
      </p:sp>
      <p:sp>
        <p:nvSpPr>
          <p:cNvPr id="18" name="Text 14"/>
          <p:cNvSpPr txBox="1"/>
          <p:nvPr/>
        </p:nvSpPr>
        <p:spPr>
          <a:xfrm>
            <a:off x="7360920" y="2441448"/>
            <a:ext cx="2880360" cy="365760"/>
          </a:xfrm>
          <a:prstGeom prst="rect">
            <a:avLst/>
          </a:prstGeom>
          <a:noFill/>
          <a:ln/>
        </p:spPr>
        <p:txBody>
          <a:bodyPr wrap="square" lIns="0" tIns="0" rIns="0" bIns="0" rtlCol="0" anchor="ctr"/>
          <a:lstStyle/>
          <a:p>
            <a:pPr indent="0" marL="0">
              <a:buNone/>
            </a:pPr>
            <a:r>
              <a:rPr lang="en-US" sz="1300" dirty="0">
                <a:solidFill>
                  <a:srgbClr val="5B6478"/>
                </a:solidFill>
                <a:latin typeface="Malgun Gothic" pitchFamily="34" charset="0"/>
                <a:ea typeface="Malgun Gothic" pitchFamily="34" charset="-122"/>
                <a:cs typeface="Malgun Gothic" pitchFamily="34" charset="-120"/>
              </a:rPr>
              <a:t>도보 시간, 가로등·CCTV, 버스·막차</a:t>
            </a:r>
            <a:endParaRPr lang="en-US" sz="1300" dirty="0"/>
          </a:p>
        </p:txBody>
      </p:sp>
      <p:sp>
        <p:nvSpPr>
          <p:cNvPr id="19" name="Text 15"/>
          <p:cNvSpPr txBox="1"/>
          <p:nvPr/>
        </p:nvSpPr>
        <p:spPr>
          <a:xfrm>
            <a:off x="10332720" y="2468880"/>
            <a:ext cx="1005840" cy="320040"/>
          </a:xfrm>
          <a:prstGeom prst="rect">
            <a:avLst/>
          </a:prstGeom>
          <a:noFill/>
          <a:ln/>
        </p:spPr>
        <p:txBody>
          <a:bodyPr wrap="square" lIns="0" tIns="0" rIns="0" bIns="0" rtlCol="0" anchor="ctr"/>
          <a:lstStyle/>
          <a:p>
            <a:pPr algn="ctr" indent="0" marL="0">
              <a:buNone/>
            </a:pPr>
            <a:r>
              <a:rPr lang="en-US" sz="1100" dirty="0">
                <a:solidFill>
                  <a:srgbClr val="5B6478"/>
                </a:solidFill>
                <a:latin typeface="Malgun Gothic" pitchFamily="34" charset="0"/>
                <a:ea typeface="Malgun Gothic" pitchFamily="34" charset="-122"/>
                <a:cs typeface="Malgun Gothic" pitchFamily="34" charset="-120"/>
              </a:rPr>
              <a:t>담당 A</a:t>
            </a:r>
            <a:endParaRPr lang="en-US" sz="1100" dirty="0"/>
          </a:p>
        </p:txBody>
      </p:sp>
      <p:sp>
        <p:nvSpPr>
          <p:cNvPr id="20" name="Shape 16"/>
          <p:cNvSpPr/>
          <p:nvPr/>
        </p:nvSpPr>
        <p:spPr>
          <a:xfrm>
            <a:off x="548640" y="3246120"/>
            <a:ext cx="5440680" cy="1280160"/>
          </a:xfrm>
          <a:prstGeom prst="roundRect">
            <a:avLst>
              <a:gd name="adj" fmla="val 7143"/>
            </a:avLst>
          </a:prstGeom>
          <a:solidFill>
            <a:srgbClr val="FFF4CC"/>
          </a:solidFill>
          <a:ln w="12700">
            <a:solidFill>
              <a:srgbClr val="FFF4CC"/>
            </a:solidFill>
            <a:prstDash val="solid"/>
          </a:ln>
        </p:spPr>
      </p:sp>
      <p:sp>
        <p:nvSpPr>
          <p:cNvPr id="21" name="Shape 17"/>
          <p:cNvSpPr/>
          <p:nvPr/>
        </p:nvSpPr>
        <p:spPr>
          <a:xfrm>
            <a:off x="822960" y="3538728"/>
            <a:ext cx="694944" cy="694944"/>
          </a:xfrm>
          <a:prstGeom prst="ellipse">
            <a:avLst/>
          </a:prstGeom>
          <a:solidFill>
            <a:srgbClr val="0F1B33"/>
          </a:solidFill>
          <a:ln w="12700">
            <a:solidFill>
              <a:srgbClr val="0F1B33"/>
            </a:solidFill>
            <a:prstDash val="solid"/>
          </a:ln>
        </p:spPr>
      </p:sp>
      <p:pic>
        <p:nvPicPr>
          <p:cNvPr id="22" name="Image 2" descr="preencoded.png">    </p:cNvPr>
          <p:cNvPicPr>
            <a:picLocks noChangeAspect="1"/>
          </p:cNvPicPr>
          <p:nvPr/>
        </p:nvPicPr>
        <p:blipFill>
          <a:blip r:embed="rId3"/>
          <a:stretch>
            <a:fillRect/>
          </a:stretch>
        </p:blipFill>
        <p:spPr>
          <a:xfrm>
            <a:off x="996696" y="3712464"/>
            <a:ext cx="347472" cy="347472"/>
          </a:xfrm>
          <a:prstGeom prst="rect">
            <a:avLst/>
          </a:prstGeom>
        </p:spPr>
      </p:pic>
      <p:sp>
        <p:nvSpPr>
          <p:cNvPr id="23" name="Text 18"/>
          <p:cNvSpPr txBox="1"/>
          <p:nvPr/>
        </p:nvSpPr>
        <p:spPr>
          <a:xfrm>
            <a:off x="1737360" y="3447288"/>
            <a:ext cx="2926080" cy="411480"/>
          </a:xfrm>
          <a:prstGeom prst="rect">
            <a:avLst/>
          </a:prstGeom>
          <a:noFill/>
          <a:ln/>
        </p:spPr>
        <p:txBody>
          <a:bodyPr wrap="square" lIns="0" tIns="0" rIns="0" bIns="0" rtlCol="0" anchor="ctr"/>
          <a:lstStyle/>
          <a:p>
            <a:pPr indent="0" marL="0">
              <a:buNone/>
            </a:pPr>
            <a:r>
              <a:rPr lang="en-US" sz="1700" b="1" dirty="0">
                <a:solidFill>
                  <a:srgbClr val="0F1B33"/>
                </a:solidFill>
                <a:latin typeface="Consolas" pitchFamily="34" charset="0"/>
                <a:ea typeface="Consolas" pitchFamily="34" charset="-122"/>
                <a:cs typeface="Consolas" pitchFamily="34" charset="-120"/>
              </a:rPr>
              <a:t>estimate_walk_risk</a:t>
            </a:r>
            <a:endParaRPr lang="en-US" sz="1700" dirty="0"/>
          </a:p>
        </p:txBody>
      </p:sp>
      <p:sp>
        <p:nvSpPr>
          <p:cNvPr id="24" name="Shape 19"/>
          <p:cNvSpPr/>
          <p:nvPr/>
        </p:nvSpPr>
        <p:spPr>
          <a:xfrm>
            <a:off x="4709160" y="3474720"/>
            <a:ext cx="1005840" cy="329184"/>
          </a:xfrm>
          <a:prstGeom prst="roundRect">
            <a:avLst>
              <a:gd name="adj" fmla="val 50000"/>
            </a:avLst>
          </a:prstGeom>
          <a:solidFill>
            <a:srgbClr val="8A5BD6"/>
          </a:solidFill>
          <a:ln w="12700">
            <a:solidFill>
              <a:srgbClr val="8A5BD6"/>
            </a:solidFill>
            <a:prstDash val="solid"/>
          </a:ln>
        </p:spPr>
      </p:sp>
      <p:sp>
        <p:nvSpPr>
          <p:cNvPr id="25" name="Text 20"/>
          <p:cNvSpPr txBox="1"/>
          <p:nvPr/>
        </p:nvSpPr>
        <p:spPr>
          <a:xfrm>
            <a:off x="4709160" y="3474720"/>
            <a:ext cx="10058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compute</a:t>
            </a:r>
            <a:endParaRPr lang="en-US" sz="1100" dirty="0"/>
          </a:p>
        </p:txBody>
      </p:sp>
      <p:sp>
        <p:nvSpPr>
          <p:cNvPr id="26" name="Text 21"/>
          <p:cNvSpPr txBox="1"/>
          <p:nvPr/>
        </p:nvSpPr>
        <p:spPr>
          <a:xfrm>
            <a:off x="1737360" y="3904488"/>
            <a:ext cx="2880360" cy="365760"/>
          </a:xfrm>
          <a:prstGeom prst="rect">
            <a:avLst/>
          </a:prstGeom>
          <a:noFill/>
          <a:ln/>
        </p:spPr>
        <p:txBody>
          <a:bodyPr wrap="square" lIns="0" tIns="0" rIns="0" bIns="0" rtlCol="0" anchor="ctr"/>
          <a:lstStyle/>
          <a:p>
            <a:pPr indent="0" marL="0">
              <a:buNone/>
            </a:pPr>
            <a:r>
              <a:rPr lang="en-US" sz="1300" dirty="0">
                <a:solidFill>
                  <a:srgbClr val="5B6478"/>
                </a:solidFill>
                <a:latin typeface="Malgun Gothic" pitchFamily="34" charset="0"/>
                <a:ea typeface="Malgun Gothic" pitchFamily="34" charset="-122"/>
                <a:cs typeface="Malgun Gothic" pitchFamily="34" charset="-120"/>
              </a:rPr>
              <a:t>걷기 위험도 0–100점 + 이유</a:t>
            </a:r>
            <a:endParaRPr lang="en-US" sz="1300" dirty="0"/>
          </a:p>
        </p:txBody>
      </p:sp>
      <p:sp>
        <p:nvSpPr>
          <p:cNvPr id="27" name="Text 22"/>
          <p:cNvSpPr txBox="1"/>
          <p:nvPr/>
        </p:nvSpPr>
        <p:spPr>
          <a:xfrm>
            <a:off x="4709160" y="3931920"/>
            <a:ext cx="1005840" cy="320040"/>
          </a:xfrm>
          <a:prstGeom prst="rect">
            <a:avLst/>
          </a:prstGeom>
          <a:noFill/>
          <a:ln/>
        </p:spPr>
        <p:txBody>
          <a:bodyPr wrap="square" lIns="0" tIns="0" rIns="0" bIns="0" rtlCol="0" anchor="ctr"/>
          <a:lstStyle/>
          <a:p>
            <a:pPr algn="ctr" indent="0" marL="0">
              <a:buNone/>
            </a:pPr>
            <a:r>
              <a:rPr lang="en-US" sz="1100" dirty="0">
                <a:solidFill>
                  <a:srgbClr val="5B6478"/>
                </a:solidFill>
                <a:latin typeface="Malgun Gothic" pitchFamily="34" charset="0"/>
                <a:ea typeface="Malgun Gothic" pitchFamily="34" charset="-122"/>
                <a:cs typeface="Malgun Gothic" pitchFamily="34" charset="-120"/>
              </a:rPr>
              <a:t>담당 B</a:t>
            </a:r>
            <a:endParaRPr lang="en-US" sz="1100" dirty="0"/>
          </a:p>
        </p:txBody>
      </p:sp>
      <p:sp>
        <p:nvSpPr>
          <p:cNvPr id="28" name="Shape 23"/>
          <p:cNvSpPr/>
          <p:nvPr/>
        </p:nvSpPr>
        <p:spPr>
          <a:xfrm>
            <a:off x="6172200" y="3246120"/>
            <a:ext cx="5440680" cy="1280160"/>
          </a:xfrm>
          <a:prstGeom prst="roundRect">
            <a:avLst>
              <a:gd name="adj" fmla="val 7143"/>
            </a:avLst>
          </a:prstGeom>
          <a:solidFill>
            <a:srgbClr val="F3F5F9"/>
          </a:solidFill>
          <a:ln w="12700">
            <a:solidFill>
              <a:srgbClr val="F3F5F9"/>
            </a:solidFill>
            <a:prstDash val="solid"/>
          </a:ln>
        </p:spPr>
      </p:sp>
      <p:sp>
        <p:nvSpPr>
          <p:cNvPr id="29" name="Shape 24"/>
          <p:cNvSpPr/>
          <p:nvPr/>
        </p:nvSpPr>
        <p:spPr>
          <a:xfrm>
            <a:off x="6446520" y="3538728"/>
            <a:ext cx="694944" cy="694944"/>
          </a:xfrm>
          <a:prstGeom prst="ellipse">
            <a:avLst/>
          </a:prstGeom>
          <a:solidFill>
            <a:srgbClr val="0F1B33"/>
          </a:solidFill>
          <a:ln w="12700">
            <a:solidFill>
              <a:srgbClr val="0F1B33"/>
            </a:solidFill>
            <a:prstDash val="solid"/>
          </a:ln>
        </p:spPr>
      </p:sp>
      <p:pic>
        <p:nvPicPr>
          <p:cNvPr id="30" name="Image 3" descr="preencoded.png">    </p:cNvPr>
          <p:cNvPicPr>
            <a:picLocks noChangeAspect="1"/>
          </p:cNvPicPr>
          <p:nvPr/>
        </p:nvPicPr>
        <p:blipFill>
          <a:blip r:embed="rId4"/>
          <a:stretch>
            <a:fillRect/>
          </a:stretch>
        </p:blipFill>
        <p:spPr>
          <a:xfrm>
            <a:off x="6620256" y="3712464"/>
            <a:ext cx="347472" cy="347472"/>
          </a:xfrm>
          <a:prstGeom prst="rect">
            <a:avLst/>
          </a:prstGeom>
        </p:spPr>
      </p:pic>
      <p:sp>
        <p:nvSpPr>
          <p:cNvPr id="31" name="Text 25"/>
          <p:cNvSpPr txBox="1"/>
          <p:nvPr/>
        </p:nvSpPr>
        <p:spPr>
          <a:xfrm>
            <a:off x="7360920" y="3447288"/>
            <a:ext cx="2926080" cy="411480"/>
          </a:xfrm>
          <a:prstGeom prst="rect">
            <a:avLst/>
          </a:prstGeom>
          <a:noFill/>
          <a:ln/>
        </p:spPr>
        <p:txBody>
          <a:bodyPr wrap="square" lIns="0" tIns="0" rIns="0" bIns="0" rtlCol="0" anchor="ctr"/>
          <a:lstStyle/>
          <a:p>
            <a:pPr indent="0" marL="0">
              <a:buNone/>
            </a:pPr>
            <a:r>
              <a:rPr lang="en-US" sz="1700" b="1" dirty="0">
                <a:solidFill>
                  <a:srgbClr val="0F1B33"/>
                </a:solidFill>
                <a:latin typeface="Consolas" pitchFamily="34" charset="0"/>
                <a:ea typeface="Consolas" pitchFamily="34" charset="-122"/>
                <a:cs typeface="Consolas" pitchFamily="34" charset="-120"/>
              </a:rPr>
              <a:t>estimate_taxi_cost</a:t>
            </a:r>
            <a:endParaRPr lang="en-US" sz="1700" dirty="0"/>
          </a:p>
        </p:txBody>
      </p:sp>
      <p:sp>
        <p:nvSpPr>
          <p:cNvPr id="32" name="Shape 26"/>
          <p:cNvSpPr/>
          <p:nvPr/>
        </p:nvSpPr>
        <p:spPr>
          <a:xfrm>
            <a:off x="10332720" y="3474720"/>
            <a:ext cx="1005840" cy="329184"/>
          </a:xfrm>
          <a:prstGeom prst="roundRect">
            <a:avLst>
              <a:gd name="adj" fmla="val 50000"/>
            </a:avLst>
          </a:prstGeom>
          <a:solidFill>
            <a:srgbClr val="8A5BD6"/>
          </a:solidFill>
          <a:ln w="12700">
            <a:solidFill>
              <a:srgbClr val="8A5BD6"/>
            </a:solidFill>
            <a:prstDash val="solid"/>
          </a:ln>
        </p:spPr>
      </p:sp>
      <p:sp>
        <p:nvSpPr>
          <p:cNvPr id="33" name="Text 27"/>
          <p:cNvSpPr txBox="1"/>
          <p:nvPr/>
        </p:nvSpPr>
        <p:spPr>
          <a:xfrm>
            <a:off x="10332720" y="3474720"/>
            <a:ext cx="10058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compute</a:t>
            </a:r>
            <a:endParaRPr lang="en-US" sz="1100" dirty="0"/>
          </a:p>
        </p:txBody>
      </p:sp>
      <p:sp>
        <p:nvSpPr>
          <p:cNvPr id="34" name="Text 28"/>
          <p:cNvSpPr txBox="1"/>
          <p:nvPr/>
        </p:nvSpPr>
        <p:spPr>
          <a:xfrm>
            <a:off x="7360920" y="3904488"/>
            <a:ext cx="2880360" cy="365760"/>
          </a:xfrm>
          <a:prstGeom prst="rect">
            <a:avLst/>
          </a:prstGeom>
          <a:noFill/>
          <a:ln/>
        </p:spPr>
        <p:txBody>
          <a:bodyPr wrap="square" lIns="0" tIns="0" rIns="0" bIns="0" rtlCol="0" anchor="ctr"/>
          <a:lstStyle/>
          <a:p>
            <a:pPr indent="0" marL="0">
              <a:buNone/>
            </a:pPr>
            <a:r>
              <a:rPr lang="en-US" sz="1300" dirty="0">
                <a:solidFill>
                  <a:srgbClr val="5B6478"/>
                </a:solidFill>
                <a:latin typeface="Malgun Gothic" pitchFamily="34" charset="0"/>
                <a:ea typeface="Malgun Gothic" pitchFamily="34" charset="-122"/>
                <a:cs typeface="Malgun Gothic" pitchFamily="34" charset="-120"/>
              </a:rPr>
              <a:t>심야 할증 포함 택시비</a:t>
            </a:r>
            <a:endParaRPr lang="en-US" sz="1300" dirty="0"/>
          </a:p>
        </p:txBody>
      </p:sp>
      <p:sp>
        <p:nvSpPr>
          <p:cNvPr id="35" name="Text 29"/>
          <p:cNvSpPr txBox="1"/>
          <p:nvPr/>
        </p:nvSpPr>
        <p:spPr>
          <a:xfrm>
            <a:off x="10332720" y="3931920"/>
            <a:ext cx="1005840" cy="320040"/>
          </a:xfrm>
          <a:prstGeom prst="rect">
            <a:avLst/>
          </a:prstGeom>
          <a:noFill/>
          <a:ln/>
        </p:spPr>
        <p:txBody>
          <a:bodyPr wrap="square" lIns="0" tIns="0" rIns="0" bIns="0" rtlCol="0" anchor="ctr"/>
          <a:lstStyle/>
          <a:p>
            <a:pPr algn="ctr" indent="0" marL="0">
              <a:buNone/>
            </a:pPr>
            <a:r>
              <a:rPr lang="en-US" sz="1100" dirty="0">
                <a:solidFill>
                  <a:srgbClr val="5B6478"/>
                </a:solidFill>
                <a:latin typeface="Malgun Gothic" pitchFamily="34" charset="0"/>
                <a:ea typeface="Malgun Gothic" pitchFamily="34" charset="-122"/>
                <a:cs typeface="Malgun Gothic" pitchFamily="34" charset="-120"/>
              </a:rPr>
              <a:t>담당 B</a:t>
            </a:r>
            <a:endParaRPr lang="en-US" sz="1100" dirty="0"/>
          </a:p>
        </p:txBody>
      </p:sp>
      <p:sp>
        <p:nvSpPr>
          <p:cNvPr id="36" name="Shape 30"/>
          <p:cNvSpPr/>
          <p:nvPr/>
        </p:nvSpPr>
        <p:spPr>
          <a:xfrm>
            <a:off x="548640" y="4709160"/>
            <a:ext cx="5440680" cy="1280160"/>
          </a:xfrm>
          <a:prstGeom prst="roundRect">
            <a:avLst>
              <a:gd name="adj" fmla="val 7143"/>
            </a:avLst>
          </a:prstGeom>
          <a:solidFill>
            <a:srgbClr val="FFF4CC"/>
          </a:solidFill>
          <a:ln w="12700">
            <a:solidFill>
              <a:srgbClr val="FFF4CC"/>
            </a:solidFill>
            <a:prstDash val="solid"/>
          </a:ln>
        </p:spPr>
      </p:sp>
      <p:sp>
        <p:nvSpPr>
          <p:cNvPr id="37" name="Shape 31"/>
          <p:cNvSpPr/>
          <p:nvPr/>
        </p:nvSpPr>
        <p:spPr>
          <a:xfrm>
            <a:off x="822960" y="5001768"/>
            <a:ext cx="694944" cy="694944"/>
          </a:xfrm>
          <a:prstGeom prst="ellipse">
            <a:avLst/>
          </a:prstGeom>
          <a:solidFill>
            <a:srgbClr val="0F1B33"/>
          </a:solidFill>
          <a:ln w="12700">
            <a:solidFill>
              <a:srgbClr val="0F1B33"/>
            </a:solidFill>
            <a:prstDash val="solid"/>
          </a:ln>
        </p:spPr>
      </p:sp>
      <p:pic>
        <p:nvPicPr>
          <p:cNvPr id="38" name="Image 4" descr="preencoded.png">    </p:cNvPr>
          <p:cNvPicPr>
            <a:picLocks noChangeAspect="1"/>
          </p:cNvPicPr>
          <p:nvPr/>
        </p:nvPicPr>
        <p:blipFill>
          <a:blip r:embed="rId5"/>
          <a:stretch>
            <a:fillRect/>
          </a:stretch>
        </p:blipFill>
        <p:spPr>
          <a:xfrm>
            <a:off x="996696" y="5175504"/>
            <a:ext cx="347472" cy="347472"/>
          </a:xfrm>
          <a:prstGeom prst="rect">
            <a:avLst/>
          </a:prstGeom>
        </p:spPr>
      </p:pic>
      <p:sp>
        <p:nvSpPr>
          <p:cNvPr id="39" name="Text 32"/>
          <p:cNvSpPr txBox="1"/>
          <p:nvPr/>
        </p:nvSpPr>
        <p:spPr>
          <a:xfrm>
            <a:off x="1737360" y="4910328"/>
            <a:ext cx="2926080" cy="411480"/>
          </a:xfrm>
          <a:prstGeom prst="rect">
            <a:avLst/>
          </a:prstGeom>
          <a:noFill/>
          <a:ln/>
        </p:spPr>
        <p:txBody>
          <a:bodyPr wrap="square" lIns="0" tIns="0" rIns="0" bIns="0" rtlCol="0" anchor="ctr"/>
          <a:lstStyle/>
          <a:p>
            <a:pPr indent="0" marL="0">
              <a:buNone/>
            </a:pPr>
            <a:r>
              <a:rPr lang="en-US" sz="1700" b="1" dirty="0">
                <a:solidFill>
                  <a:srgbClr val="0F1B33"/>
                </a:solidFill>
                <a:latin typeface="Consolas" pitchFamily="34" charset="0"/>
                <a:ea typeface="Consolas" pitchFamily="34" charset="-122"/>
                <a:cs typeface="Consolas" pitchFamily="34" charset="-120"/>
              </a:rPr>
              <a:t>request_escort</a:t>
            </a:r>
            <a:endParaRPr lang="en-US" sz="1700" dirty="0"/>
          </a:p>
        </p:txBody>
      </p:sp>
      <p:sp>
        <p:nvSpPr>
          <p:cNvPr id="40" name="Shape 33"/>
          <p:cNvSpPr/>
          <p:nvPr/>
        </p:nvSpPr>
        <p:spPr>
          <a:xfrm>
            <a:off x="4709160" y="4937760"/>
            <a:ext cx="1005840" cy="329184"/>
          </a:xfrm>
          <a:prstGeom prst="roundRect">
            <a:avLst>
              <a:gd name="adj" fmla="val 50000"/>
            </a:avLst>
          </a:prstGeom>
          <a:solidFill>
            <a:srgbClr val="D64545"/>
          </a:solidFill>
          <a:ln w="12700">
            <a:solidFill>
              <a:srgbClr val="D64545"/>
            </a:solidFill>
            <a:prstDash val="solid"/>
          </a:ln>
        </p:spPr>
      </p:sp>
      <p:sp>
        <p:nvSpPr>
          <p:cNvPr id="41" name="Text 34"/>
          <p:cNvSpPr txBox="1"/>
          <p:nvPr/>
        </p:nvSpPr>
        <p:spPr>
          <a:xfrm>
            <a:off x="4709160" y="4937760"/>
            <a:ext cx="10058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write</a:t>
            </a:r>
            <a:endParaRPr lang="en-US" sz="1100" dirty="0"/>
          </a:p>
        </p:txBody>
      </p:sp>
      <p:sp>
        <p:nvSpPr>
          <p:cNvPr id="42" name="Text 35"/>
          <p:cNvSpPr txBox="1"/>
          <p:nvPr/>
        </p:nvSpPr>
        <p:spPr>
          <a:xfrm>
            <a:off x="1737360" y="5367528"/>
            <a:ext cx="2880360" cy="365760"/>
          </a:xfrm>
          <a:prstGeom prst="rect">
            <a:avLst/>
          </a:prstGeom>
          <a:noFill/>
          <a:ln/>
        </p:spPr>
        <p:txBody>
          <a:bodyPr wrap="square" lIns="0" tIns="0" rIns="0" bIns="0" rtlCol="0" anchor="ctr"/>
          <a:lstStyle/>
          <a:p>
            <a:pPr indent="0" marL="0">
              <a:buNone/>
            </a:pPr>
            <a:r>
              <a:rPr lang="en-US" sz="1300" dirty="0">
                <a:solidFill>
                  <a:srgbClr val="5B6478"/>
                </a:solidFill>
                <a:latin typeface="Malgun Gothic" pitchFamily="34" charset="0"/>
                <a:ea typeface="Malgun Gothic" pitchFamily="34" charset="-122"/>
                <a:cs typeface="Malgun Gothic" pitchFamily="34" charset="-120"/>
              </a:rPr>
              <a:t>안심귀가 동행 신청 (확인 후 저장)</a:t>
            </a:r>
            <a:endParaRPr lang="en-US" sz="1300" dirty="0"/>
          </a:p>
        </p:txBody>
      </p:sp>
      <p:sp>
        <p:nvSpPr>
          <p:cNvPr id="43" name="Text 36"/>
          <p:cNvSpPr txBox="1"/>
          <p:nvPr/>
        </p:nvSpPr>
        <p:spPr>
          <a:xfrm>
            <a:off x="4709160" y="5394960"/>
            <a:ext cx="1005840" cy="320040"/>
          </a:xfrm>
          <a:prstGeom prst="rect">
            <a:avLst/>
          </a:prstGeom>
          <a:noFill/>
          <a:ln/>
        </p:spPr>
        <p:txBody>
          <a:bodyPr wrap="square" lIns="0" tIns="0" rIns="0" bIns="0" rtlCol="0" anchor="ctr"/>
          <a:lstStyle/>
          <a:p>
            <a:pPr algn="ctr" indent="0" marL="0">
              <a:buNone/>
            </a:pPr>
            <a:r>
              <a:rPr lang="en-US" sz="1100" dirty="0">
                <a:solidFill>
                  <a:srgbClr val="5B6478"/>
                </a:solidFill>
                <a:latin typeface="Malgun Gothic" pitchFamily="34" charset="0"/>
                <a:ea typeface="Malgun Gothic" pitchFamily="34" charset="-122"/>
                <a:cs typeface="Malgun Gothic" pitchFamily="34" charset="-120"/>
              </a:rPr>
              <a:t>담당 B</a:t>
            </a:r>
            <a:endParaRPr lang="en-US" sz="1100" dirty="0"/>
          </a:p>
        </p:txBody>
      </p:sp>
      <p:sp>
        <p:nvSpPr>
          <p:cNvPr id="44" name="Shape 37"/>
          <p:cNvSpPr/>
          <p:nvPr/>
        </p:nvSpPr>
        <p:spPr>
          <a:xfrm>
            <a:off x="6172200" y="4709160"/>
            <a:ext cx="5440680" cy="1280160"/>
          </a:xfrm>
          <a:prstGeom prst="roundRect">
            <a:avLst>
              <a:gd name="adj" fmla="val 7143"/>
            </a:avLst>
          </a:prstGeom>
          <a:solidFill>
            <a:srgbClr val="F3F5F9"/>
          </a:solidFill>
          <a:ln w="12700">
            <a:solidFill>
              <a:srgbClr val="F3F5F9"/>
            </a:solidFill>
            <a:prstDash val="solid"/>
          </a:ln>
        </p:spPr>
      </p:sp>
      <p:sp>
        <p:nvSpPr>
          <p:cNvPr id="45" name="Shape 38"/>
          <p:cNvSpPr/>
          <p:nvPr/>
        </p:nvSpPr>
        <p:spPr>
          <a:xfrm>
            <a:off x="6446520" y="5001768"/>
            <a:ext cx="694944" cy="694944"/>
          </a:xfrm>
          <a:prstGeom prst="ellipse">
            <a:avLst/>
          </a:prstGeom>
          <a:solidFill>
            <a:srgbClr val="0F1B33"/>
          </a:solidFill>
          <a:ln w="12700">
            <a:solidFill>
              <a:srgbClr val="0F1B33"/>
            </a:solidFill>
            <a:prstDash val="solid"/>
          </a:ln>
        </p:spPr>
      </p:sp>
      <p:pic>
        <p:nvPicPr>
          <p:cNvPr id="46" name="Image 5" descr="preencoded.png">    </p:cNvPr>
          <p:cNvPicPr>
            <a:picLocks noChangeAspect="1"/>
          </p:cNvPicPr>
          <p:nvPr/>
        </p:nvPicPr>
        <p:blipFill>
          <a:blip r:embed="rId6"/>
          <a:stretch>
            <a:fillRect/>
          </a:stretch>
        </p:blipFill>
        <p:spPr>
          <a:xfrm>
            <a:off x="6620256" y="5175504"/>
            <a:ext cx="347472" cy="347472"/>
          </a:xfrm>
          <a:prstGeom prst="rect">
            <a:avLst/>
          </a:prstGeom>
        </p:spPr>
      </p:pic>
      <p:sp>
        <p:nvSpPr>
          <p:cNvPr id="47" name="Text 39"/>
          <p:cNvSpPr txBox="1"/>
          <p:nvPr/>
        </p:nvSpPr>
        <p:spPr>
          <a:xfrm>
            <a:off x="7360920" y="4910328"/>
            <a:ext cx="2926080" cy="411480"/>
          </a:xfrm>
          <a:prstGeom prst="rect">
            <a:avLst/>
          </a:prstGeom>
          <a:noFill/>
          <a:ln/>
        </p:spPr>
        <p:txBody>
          <a:bodyPr wrap="square" lIns="0" tIns="0" rIns="0" bIns="0" rtlCol="0" anchor="ctr"/>
          <a:lstStyle/>
          <a:p>
            <a:pPr indent="0" marL="0">
              <a:buNone/>
            </a:pPr>
            <a:r>
              <a:rPr lang="en-US" sz="1700" b="1" dirty="0">
                <a:solidFill>
                  <a:srgbClr val="0F1B33"/>
                </a:solidFill>
                <a:latin typeface="Consolas" pitchFamily="34" charset="0"/>
                <a:ea typeface="Consolas" pitchFamily="34" charset="-122"/>
                <a:cs typeface="Consolas" pitchFamily="34" charset="-120"/>
              </a:rPr>
              <a:t>calculate</a:t>
            </a:r>
            <a:endParaRPr lang="en-US" sz="1700" dirty="0"/>
          </a:p>
        </p:txBody>
      </p:sp>
      <p:sp>
        <p:nvSpPr>
          <p:cNvPr id="48" name="Shape 40"/>
          <p:cNvSpPr/>
          <p:nvPr/>
        </p:nvSpPr>
        <p:spPr>
          <a:xfrm>
            <a:off x="10332720" y="4937760"/>
            <a:ext cx="1005840" cy="329184"/>
          </a:xfrm>
          <a:prstGeom prst="roundRect">
            <a:avLst>
              <a:gd name="adj" fmla="val 50000"/>
            </a:avLst>
          </a:prstGeom>
          <a:solidFill>
            <a:srgbClr val="8A5BD6"/>
          </a:solidFill>
          <a:ln w="12700">
            <a:solidFill>
              <a:srgbClr val="8A5BD6"/>
            </a:solidFill>
            <a:prstDash val="solid"/>
          </a:ln>
        </p:spPr>
      </p:sp>
      <p:sp>
        <p:nvSpPr>
          <p:cNvPr id="49" name="Text 41"/>
          <p:cNvSpPr txBox="1"/>
          <p:nvPr/>
        </p:nvSpPr>
        <p:spPr>
          <a:xfrm>
            <a:off x="10332720" y="4937760"/>
            <a:ext cx="10058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compute</a:t>
            </a:r>
            <a:endParaRPr lang="en-US" sz="1100" dirty="0"/>
          </a:p>
        </p:txBody>
      </p:sp>
      <p:sp>
        <p:nvSpPr>
          <p:cNvPr id="50" name="Text 42"/>
          <p:cNvSpPr txBox="1"/>
          <p:nvPr/>
        </p:nvSpPr>
        <p:spPr>
          <a:xfrm>
            <a:off x="7360920" y="5367528"/>
            <a:ext cx="4023360" cy="365760"/>
          </a:xfrm>
          <a:prstGeom prst="rect">
            <a:avLst/>
          </a:prstGeom>
          <a:noFill/>
          <a:ln/>
        </p:spPr>
        <p:txBody>
          <a:bodyPr wrap="square" lIns="0" tIns="0" rIns="0" bIns="0" rtlCol="0" anchor="ctr"/>
          <a:lstStyle/>
          <a:p>
            <a:pPr indent="0" marL="0">
              <a:buNone/>
            </a:pPr>
            <a:r>
              <a:rPr lang="en-US" sz="1300" dirty="0">
                <a:solidFill>
                  <a:srgbClr val="5B6478"/>
                </a:solidFill>
                <a:latin typeface="Malgun Gothic" pitchFamily="34" charset="0"/>
                <a:ea typeface="Malgun Gothic" pitchFamily="34" charset="-122"/>
                <a:cs typeface="Malgun Gothic" pitchFamily="34" charset="-120"/>
              </a:rPr>
              <a:t>버스 vs 택시 차액 등 계산 (기본 제공)</a:t>
            </a:r>
            <a:endParaRPr lang="en-US" sz="1300" dirty="0"/>
          </a:p>
        </p:txBody>
      </p:sp>
      <p:sp>
        <p:nvSpPr>
          <p:cNvPr id="51" name="Text 43"/>
          <p:cNvSpPr txBox="1"/>
          <p:nvPr/>
        </p:nvSpPr>
        <p:spPr>
          <a:xfrm>
            <a:off x="10332720" y="5394960"/>
            <a:ext cx="1005840" cy="320040"/>
          </a:xfrm>
          <a:prstGeom prst="rect">
            <a:avLst/>
          </a:prstGeom>
          <a:noFill/>
          <a:ln/>
        </p:spPr>
        <p:txBody>
          <a:bodyPr wrap="square" lIns="0" tIns="0" rIns="0" bIns="0" rtlCol="0" anchor="ctr"/>
          <a:lstStyle/>
          <a:p>
            <a:pPr algn="ctr" indent="0" marL="0">
              <a:buNone/>
            </a:pPr>
            <a:endParaRPr lang="en-US" sz="1100" dirty="0"/>
          </a:p>
        </p:txBody>
      </p:sp>
      <p:sp>
        <p:nvSpPr>
          <p:cNvPr id="52" name="Shape 44"/>
          <p:cNvSpPr/>
          <p:nvPr/>
        </p:nvSpPr>
        <p:spPr>
          <a:xfrm>
            <a:off x="548640" y="6263640"/>
            <a:ext cx="256032" cy="256032"/>
          </a:xfrm>
          <a:prstGeom prst="rect">
            <a:avLst/>
          </a:prstGeom>
          <a:solidFill>
            <a:srgbClr val="FFF4CC"/>
          </a:solidFill>
          <a:ln w="12700">
            <a:solidFill>
              <a:srgbClr val="E5D48F"/>
            </a:solidFill>
            <a:prstDash val="solid"/>
          </a:ln>
        </p:spPr>
      </p:sp>
      <p:sp>
        <p:nvSpPr>
          <p:cNvPr id="53" name="Text 45"/>
          <p:cNvSpPr txBox="1"/>
          <p:nvPr/>
        </p:nvSpPr>
        <p:spPr>
          <a:xfrm>
            <a:off x="914400" y="6245352"/>
            <a:ext cx="9144000" cy="292608"/>
          </a:xfrm>
          <a:prstGeom prst="rect">
            <a:avLst/>
          </a:prstGeom>
          <a:noFill/>
          <a:ln/>
        </p:spPr>
        <p:txBody>
          <a:bodyPr wrap="square" lIns="0" tIns="0" rIns="0" bIns="0" rtlCol="0" anchor="ctr"/>
          <a:lstStyle/>
          <a:p>
            <a:pPr indent="0" marL="0">
              <a:buNone/>
            </a:pPr>
            <a:r>
              <a:rPr lang="en-US" sz="1200" dirty="0">
                <a:solidFill>
                  <a:srgbClr val="5B6478"/>
                </a:solidFill>
                <a:latin typeface="Malgun Gothic" pitchFamily="34" charset="0"/>
                <a:ea typeface="Malgun Gothic" pitchFamily="34" charset="-122"/>
                <a:cs typeface="Malgun Gothic" pitchFamily="34" charset="-120"/>
              </a:rPr>
              <a:t>= 카페 에이전트로는 이름만 바꿔도 말이 안 되는 도구 (rename test 통과)</a:t>
            </a:r>
            <a:endParaRPr lang="en-US" sz="1200" dirty="0"/>
          </a:p>
        </p:txBody>
      </p:sp>
      <p:sp>
        <p:nvSpPr>
          <p:cNvPr id="54" name="Text 46"/>
          <p:cNvSpPr txBox="1"/>
          <p:nvPr/>
        </p:nvSpPr>
        <p:spPr>
          <a:xfrm>
            <a:off x="10972800" y="6400800"/>
            <a:ext cx="731520" cy="274320"/>
          </a:xfrm>
          <a:prstGeom prst="rect">
            <a:avLst/>
          </a:prstGeom>
          <a:noFill/>
          <a:ln/>
        </p:spPr>
        <p:txBody>
          <a:bodyPr wrap="square" lIns="0" tIns="0" rIns="0" bIns="0" rtlCol="0" anchor="ctr"/>
          <a:lstStyle/>
          <a:p>
            <a:pPr algn="r" indent="0" marL="0">
              <a:buNone/>
            </a:pPr>
            <a:r>
              <a:rPr lang="en-US" sz="1000" dirty="0">
                <a:solidFill>
                  <a:srgbClr val="5B6478"/>
                </a:solidFill>
                <a:latin typeface="Malgun Gothic" pitchFamily="34" charset="0"/>
                <a:ea typeface="Malgun Gothic" pitchFamily="34" charset="-122"/>
                <a:cs typeface="Malgun Gothic" pitchFamily="34" charset="-120"/>
              </a:rPr>
              <a:t>3 / 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0F1B33"/>
                </a:solidFill>
                <a:latin typeface="Malgun Gothic" pitchFamily="34" charset="0"/>
                <a:ea typeface="Malgun Gothic" pitchFamily="34" charset="-122"/>
                <a:cs typeface="Malgun Gothic" pitchFamily="34" charset="-120"/>
              </a:rPr>
              <a:t>시연 ①  도구 3개 연속 호출</a:t>
            </a:r>
            <a:endParaRPr lang="en-US" sz="32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500" dirty="0">
                <a:solidFill>
                  <a:srgbClr val="5B6478"/>
                </a:solidFill>
                <a:latin typeface="Malgun Gothic" pitchFamily="34" charset="0"/>
                <a:ea typeface="Malgun Gothic" pitchFamily="34" charset="-122"/>
                <a:cs typeface="Malgun Gothic" pitchFamily="34" charset="-120"/>
              </a:rPr>
              <a:t>웹 앱에서 바로 실행: 도구 호출 과정이 펼쳐서 보인다</a:t>
            </a:r>
            <a:endParaRPr lang="en-US" sz="1500" dirty="0"/>
          </a:p>
        </p:txBody>
      </p:sp>
      <p:sp>
        <p:nvSpPr>
          <p:cNvPr id="4" name="Shape 2"/>
          <p:cNvSpPr/>
          <p:nvPr/>
        </p:nvSpPr>
        <p:spPr>
          <a:xfrm>
            <a:off x="548640" y="1691640"/>
            <a:ext cx="11064240" cy="777240"/>
          </a:xfrm>
          <a:prstGeom prst="roundRect">
            <a:avLst>
              <a:gd name="adj" fmla="val 14118"/>
            </a:avLst>
          </a:prstGeom>
          <a:solidFill>
            <a:srgbClr val="E6ECF7"/>
          </a:solidFill>
          <a:ln w="12700">
            <a:solidFill>
              <a:srgbClr val="E6ECF7"/>
            </a:solidFill>
            <a:prstDash val="solid"/>
          </a:ln>
        </p:spPr>
      </p:sp>
      <p:sp>
        <p:nvSpPr>
          <p:cNvPr id="5" name="Shape 3"/>
          <p:cNvSpPr/>
          <p:nvPr/>
        </p:nvSpPr>
        <p:spPr>
          <a:xfrm>
            <a:off x="731520" y="1801368"/>
            <a:ext cx="548640" cy="548640"/>
          </a:xfrm>
          <a:prstGeom prst="ellipse">
            <a:avLst/>
          </a:prstGeom>
          <a:solidFill>
            <a:srgbClr val="0F1B33"/>
          </a:solidFill>
          <a:ln w="12700">
            <a:solidFill>
              <a:srgbClr val="0F1B33"/>
            </a:solidFill>
            <a:prstDash val="solid"/>
          </a:ln>
        </p:spPr>
      </p:sp>
      <p:pic>
        <p:nvPicPr>
          <p:cNvPr id="6" name="Image 0" descr="preencoded.png">    </p:cNvPr>
          <p:cNvPicPr>
            <a:picLocks noChangeAspect="1"/>
          </p:cNvPicPr>
          <p:nvPr/>
        </p:nvPicPr>
        <p:blipFill>
          <a:blip r:embed="rId1"/>
          <a:stretch>
            <a:fillRect/>
          </a:stretch>
        </p:blipFill>
        <p:spPr>
          <a:xfrm>
            <a:off x="868680" y="1938528"/>
            <a:ext cx="274320" cy="274320"/>
          </a:xfrm>
          <a:prstGeom prst="rect">
            <a:avLst/>
          </a:prstGeom>
        </p:spPr>
      </p:pic>
      <p:sp>
        <p:nvSpPr>
          <p:cNvPr id="7" name="Text 4"/>
          <p:cNvSpPr txBox="1"/>
          <p:nvPr/>
        </p:nvSpPr>
        <p:spPr>
          <a:xfrm>
            <a:off x="1463040" y="1691640"/>
            <a:ext cx="9966960" cy="777240"/>
          </a:xfrm>
          <a:prstGeom prst="rect">
            <a:avLst/>
          </a:prstGeom>
          <a:noFill/>
          <a:ln/>
        </p:spPr>
        <p:txBody>
          <a:bodyPr wrap="square" lIns="0" tIns="0" rIns="0" bIns="0" rtlCol="0" anchor="ctr"/>
          <a:lstStyle/>
          <a:p>
            <a:pPr indent="0" marL="0">
              <a:buNone/>
            </a:pPr>
            <a:r>
              <a:rPr lang="en-US" sz="1900" b="1" dirty="0">
                <a:solidFill>
                  <a:srgbClr val="0F1B33"/>
                </a:solidFill>
                <a:latin typeface="Malgun Gothic" pitchFamily="34" charset="0"/>
                <a:ea typeface="Malgun Gothic" pitchFamily="34" charset="-122"/>
                <a:cs typeface="Malgun Gothic" pitchFamily="34" charset="-120"/>
              </a:rPr>
              <a:t>"지금 밤 11시 10분인데 사창동까지 걸어가도 괜찮을까?"</a:t>
            </a:r>
            <a:endParaRPr lang="en-US" sz="1900" dirty="0"/>
          </a:p>
        </p:txBody>
      </p:sp>
      <p:sp>
        <p:nvSpPr>
          <p:cNvPr id="8" name="Shape 5"/>
          <p:cNvSpPr/>
          <p:nvPr/>
        </p:nvSpPr>
        <p:spPr>
          <a:xfrm>
            <a:off x="548640" y="2788920"/>
            <a:ext cx="3429000" cy="2651760"/>
          </a:xfrm>
          <a:prstGeom prst="roundRect">
            <a:avLst>
              <a:gd name="adj" fmla="val 4138"/>
            </a:avLst>
          </a:prstGeom>
          <a:solidFill>
            <a:srgbClr val="F3F5F9"/>
          </a:solidFill>
          <a:ln w="12700">
            <a:solidFill>
              <a:srgbClr val="F3F5F9"/>
            </a:solidFill>
            <a:prstDash val="solid"/>
          </a:ln>
        </p:spPr>
      </p:sp>
      <p:sp>
        <p:nvSpPr>
          <p:cNvPr id="9" name="Shape 6"/>
          <p:cNvSpPr/>
          <p:nvPr/>
        </p:nvSpPr>
        <p:spPr>
          <a:xfrm>
            <a:off x="822960" y="3017520"/>
            <a:ext cx="502920" cy="502920"/>
          </a:xfrm>
          <a:prstGeom prst="ellipse">
            <a:avLst/>
          </a:prstGeom>
          <a:solidFill>
            <a:srgbClr val="F5B700"/>
          </a:solidFill>
          <a:ln w="12700">
            <a:solidFill>
              <a:srgbClr val="F5B700"/>
            </a:solidFill>
            <a:prstDash val="solid"/>
          </a:ln>
        </p:spPr>
      </p:sp>
      <p:sp>
        <p:nvSpPr>
          <p:cNvPr id="10" name="Text 7"/>
          <p:cNvSpPr txBox="1"/>
          <p:nvPr/>
        </p:nvSpPr>
        <p:spPr>
          <a:xfrm>
            <a:off x="822960" y="3017520"/>
            <a:ext cx="502920" cy="502920"/>
          </a:xfrm>
          <a:prstGeom prst="rect">
            <a:avLst/>
          </a:prstGeom>
          <a:noFill/>
          <a:ln/>
        </p:spPr>
        <p:txBody>
          <a:bodyPr wrap="square" lIns="0" tIns="0" rIns="0" bIns="0" rtlCol="0" anchor="ctr"/>
          <a:lstStyle/>
          <a:p>
            <a:pPr algn="ctr" indent="0" marL="0">
              <a:buNone/>
            </a:pPr>
            <a:r>
              <a:rPr lang="en-US" sz="1800" b="1" dirty="0">
                <a:solidFill>
                  <a:srgbClr val="0F1B33"/>
                </a:solidFill>
                <a:latin typeface="Malgun Gothic" pitchFamily="34" charset="0"/>
                <a:ea typeface="Malgun Gothic" pitchFamily="34" charset="-122"/>
                <a:cs typeface="Malgun Gothic" pitchFamily="34" charset="-120"/>
              </a:rPr>
              <a:t>1</a:t>
            </a:r>
            <a:endParaRPr lang="en-US" sz="1800" dirty="0"/>
          </a:p>
        </p:txBody>
      </p:sp>
      <p:sp>
        <p:nvSpPr>
          <p:cNvPr id="11" name="Text 8"/>
          <p:cNvSpPr txBox="1"/>
          <p:nvPr/>
        </p:nvSpPr>
        <p:spPr>
          <a:xfrm>
            <a:off x="822960" y="3657600"/>
            <a:ext cx="3017520" cy="365760"/>
          </a:xfrm>
          <a:prstGeom prst="rect">
            <a:avLst/>
          </a:prstGeom>
          <a:noFill/>
          <a:ln/>
        </p:spPr>
        <p:txBody>
          <a:bodyPr wrap="square" lIns="0" tIns="0" rIns="0" bIns="0" rtlCol="0" anchor="ctr"/>
          <a:lstStyle/>
          <a:p>
            <a:pPr indent="0" marL="0">
              <a:buNone/>
            </a:pPr>
            <a:r>
              <a:rPr lang="en-US" sz="1500" b="1" dirty="0">
                <a:solidFill>
                  <a:srgbClr val="0F1B33"/>
                </a:solidFill>
                <a:latin typeface="Consolas" pitchFamily="34" charset="0"/>
                <a:ea typeface="Consolas" pitchFamily="34" charset="-122"/>
                <a:cs typeface="Consolas" pitchFamily="34" charset="-120"/>
              </a:rPr>
              <a:t>estimate_walk_risk</a:t>
            </a:r>
            <a:endParaRPr lang="en-US" sz="1500" dirty="0"/>
          </a:p>
        </p:txBody>
      </p:sp>
      <p:sp>
        <p:nvSpPr>
          <p:cNvPr id="12" name="Text 9"/>
          <p:cNvSpPr txBox="1"/>
          <p:nvPr/>
        </p:nvSpPr>
        <p:spPr>
          <a:xfrm>
            <a:off x="822960" y="4005072"/>
            <a:ext cx="3017520" cy="320040"/>
          </a:xfrm>
          <a:prstGeom prst="rect">
            <a:avLst/>
          </a:prstGeom>
          <a:noFill/>
          <a:ln/>
        </p:spPr>
        <p:txBody>
          <a:bodyPr wrap="square" lIns="0" tIns="0" rIns="0" bIns="0" rtlCol="0" anchor="ctr"/>
          <a:lstStyle/>
          <a:p>
            <a:pPr indent="0" marL="0">
              <a:buNone/>
            </a:pPr>
            <a:r>
              <a:rPr lang="en-US" sz="1200" dirty="0">
                <a:solidFill>
                  <a:srgbClr val="5B6478"/>
                </a:solidFill>
                <a:latin typeface="Consolas" pitchFamily="34" charset="0"/>
                <a:ea typeface="Consolas" pitchFamily="34" charset="-122"/>
                <a:cs typeface="Consolas" pitchFamily="34" charset="-120"/>
              </a:rPr>
              <a:t>(사창동, 23:10)</a:t>
            </a:r>
            <a:endParaRPr lang="en-US" sz="1200" dirty="0"/>
          </a:p>
        </p:txBody>
      </p:sp>
      <p:sp>
        <p:nvSpPr>
          <p:cNvPr id="13" name="Text 10"/>
          <p:cNvSpPr txBox="1"/>
          <p:nvPr/>
        </p:nvSpPr>
        <p:spPr>
          <a:xfrm>
            <a:off x="822960" y="4434840"/>
            <a:ext cx="3017520" cy="640080"/>
          </a:xfrm>
          <a:prstGeom prst="rect">
            <a:avLst/>
          </a:prstGeom>
          <a:noFill/>
          <a:ln/>
        </p:spPr>
        <p:txBody>
          <a:bodyPr wrap="square" lIns="0" tIns="0" rIns="0" bIns="0" rtlCol="0" anchor="ctr"/>
          <a:lstStyle/>
          <a:p>
            <a:pPr indent="0" marL="0">
              <a:buNone/>
            </a:pPr>
            <a:r>
              <a:rPr lang="en-US" sz="3200" b="1" dirty="0">
                <a:solidFill>
                  <a:srgbClr val="D64545"/>
                </a:solidFill>
                <a:latin typeface="Malgun Gothic" pitchFamily="34" charset="0"/>
                <a:ea typeface="Malgun Gothic" pitchFamily="34" charset="-122"/>
                <a:cs typeface="Malgun Gothic" pitchFamily="34" charset="-120"/>
              </a:rPr>
              <a:t>82점</a:t>
            </a:r>
            <a:endParaRPr lang="en-US" sz="3200" dirty="0"/>
          </a:p>
        </p:txBody>
      </p:sp>
      <p:sp>
        <p:nvSpPr>
          <p:cNvPr id="14" name="Text 11"/>
          <p:cNvSpPr txBox="1"/>
          <p:nvPr/>
        </p:nvSpPr>
        <p:spPr>
          <a:xfrm>
            <a:off x="822960" y="5029200"/>
            <a:ext cx="3017520" cy="274320"/>
          </a:xfrm>
          <a:prstGeom prst="rect">
            <a:avLst/>
          </a:prstGeom>
          <a:noFill/>
          <a:ln/>
        </p:spPr>
        <p:txBody>
          <a:bodyPr wrap="square" lIns="0" tIns="0" rIns="0" bIns="0" rtlCol="0" anchor="ctr"/>
          <a:lstStyle/>
          <a:p>
            <a:pPr indent="0" marL="0">
              <a:buNone/>
            </a:pPr>
            <a:r>
              <a:rPr lang="en-US" sz="1300" dirty="0">
                <a:solidFill>
                  <a:srgbClr val="5B6478"/>
                </a:solidFill>
                <a:latin typeface="Malgun Gothic" pitchFamily="34" charset="0"/>
                <a:ea typeface="Malgun Gothic" pitchFamily="34" charset="-122"/>
                <a:cs typeface="Malgun Gothic" pitchFamily="34" charset="-120"/>
              </a:rPr>
              <a:t>높음</a:t>
            </a:r>
            <a:endParaRPr lang="en-US" sz="1300" dirty="0"/>
          </a:p>
        </p:txBody>
      </p:sp>
      <p:pic>
        <p:nvPicPr>
          <p:cNvPr id="15" name="Image 1" descr="preencoded.png">    </p:cNvPr>
          <p:cNvPicPr>
            <a:picLocks noChangeAspect="1"/>
          </p:cNvPicPr>
          <p:nvPr/>
        </p:nvPicPr>
        <p:blipFill>
          <a:blip r:embed="rId2"/>
          <a:stretch>
            <a:fillRect/>
          </a:stretch>
        </p:blipFill>
        <p:spPr>
          <a:xfrm>
            <a:off x="4023360" y="3931920"/>
            <a:ext cx="274320" cy="365760"/>
          </a:xfrm>
          <a:prstGeom prst="rect">
            <a:avLst/>
          </a:prstGeom>
        </p:spPr>
      </p:pic>
      <p:sp>
        <p:nvSpPr>
          <p:cNvPr id="16" name="Shape 12"/>
          <p:cNvSpPr/>
          <p:nvPr/>
        </p:nvSpPr>
        <p:spPr>
          <a:xfrm>
            <a:off x="4343400" y="2788920"/>
            <a:ext cx="3429000" cy="2651760"/>
          </a:xfrm>
          <a:prstGeom prst="roundRect">
            <a:avLst>
              <a:gd name="adj" fmla="val 4138"/>
            </a:avLst>
          </a:prstGeom>
          <a:solidFill>
            <a:srgbClr val="F3F5F9"/>
          </a:solidFill>
          <a:ln w="12700">
            <a:solidFill>
              <a:srgbClr val="F3F5F9"/>
            </a:solidFill>
            <a:prstDash val="solid"/>
          </a:ln>
        </p:spPr>
      </p:sp>
      <p:sp>
        <p:nvSpPr>
          <p:cNvPr id="17" name="Shape 13"/>
          <p:cNvSpPr/>
          <p:nvPr/>
        </p:nvSpPr>
        <p:spPr>
          <a:xfrm>
            <a:off x="4617720" y="3017520"/>
            <a:ext cx="502920" cy="502920"/>
          </a:xfrm>
          <a:prstGeom prst="ellipse">
            <a:avLst/>
          </a:prstGeom>
          <a:solidFill>
            <a:srgbClr val="F5B700"/>
          </a:solidFill>
          <a:ln w="12700">
            <a:solidFill>
              <a:srgbClr val="F5B700"/>
            </a:solidFill>
            <a:prstDash val="solid"/>
          </a:ln>
        </p:spPr>
      </p:sp>
      <p:sp>
        <p:nvSpPr>
          <p:cNvPr id="18" name="Text 14"/>
          <p:cNvSpPr txBox="1"/>
          <p:nvPr/>
        </p:nvSpPr>
        <p:spPr>
          <a:xfrm>
            <a:off x="4617720" y="3017520"/>
            <a:ext cx="502920" cy="502920"/>
          </a:xfrm>
          <a:prstGeom prst="rect">
            <a:avLst/>
          </a:prstGeom>
          <a:noFill/>
          <a:ln/>
        </p:spPr>
        <p:txBody>
          <a:bodyPr wrap="square" lIns="0" tIns="0" rIns="0" bIns="0" rtlCol="0" anchor="ctr"/>
          <a:lstStyle/>
          <a:p>
            <a:pPr algn="ctr" indent="0" marL="0">
              <a:buNone/>
            </a:pPr>
            <a:r>
              <a:rPr lang="en-US" sz="1800" b="1" dirty="0">
                <a:solidFill>
                  <a:srgbClr val="0F1B33"/>
                </a:solidFill>
                <a:latin typeface="Malgun Gothic" pitchFamily="34" charset="0"/>
                <a:ea typeface="Malgun Gothic" pitchFamily="34" charset="-122"/>
                <a:cs typeface="Malgun Gothic" pitchFamily="34" charset="-120"/>
              </a:rPr>
              <a:t>2</a:t>
            </a:r>
            <a:endParaRPr lang="en-US" sz="1800" dirty="0"/>
          </a:p>
        </p:txBody>
      </p:sp>
      <p:sp>
        <p:nvSpPr>
          <p:cNvPr id="19" name="Text 15"/>
          <p:cNvSpPr txBox="1"/>
          <p:nvPr/>
        </p:nvSpPr>
        <p:spPr>
          <a:xfrm>
            <a:off x="4617720" y="3657600"/>
            <a:ext cx="3017520" cy="365760"/>
          </a:xfrm>
          <a:prstGeom prst="rect">
            <a:avLst/>
          </a:prstGeom>
          <a:noFill/>
          <a:ln/>
        </p:spPr>
        <p:txBody>
          <a:bodyPr wrap="square" lIns="0" tIns="0" rIns="0" bIns="0" rtlCol="0" anchor="ctr"/>
          <a:lstStyle/>
          <a:p>
            <a:pPr indent="0" marL="0">
              <a:buNone/>
            </a:pPr>
            <a:r>
              <a:rPr lang="en-US" sz="1500" b="1" dirty="0">
                <a:solidFill>
                  <a:srgbClr val="0F1B33"/>
                </a:solidFill>
                <a:latin typeface="Consolas" pitchFamily="34" charset="0"/>
                <a:ea typeface="Consolas" pitchFamily="34" charset="-122"/>
                <a:cs typeface="Consolas" pitchFamily="34" charset="-120"/>
              </a:rPr>
              <a:t>get_route</a:t>
            </a:r>
            <a:endParaRPr lang="en-US" sz="1500" dirty="0"/>
          </a:p>
        </p:txBody>
      </p:sp>
      <p:sp>
        <p:nvSpPr>
          <p:cNvPr id="20" name="Text 16"/>
          <p:cNvSpPr txBox="1"/>
          <p:nvPr/>
        </p:nvSpPr>
        <p:spPr>
          <a:xfrm>
            <a:off x="4617720" y="4005072"/>
            <a:ext cx="3017520" cy="320040"/>
          </a:xfrm>
          <a:prstGeom prst="rect">
            <a:avLst/>
          </a:prstGeom>
          <a:noFill/>
          <a:ln/>
        </p:spPr>
        <p:txBody>
          <a:bodyPr wrap="square" lIns="0" tIns="0" rIns="0" bIns="0" rtlCol="0" anchor="ctr"/>
          <a:lstStyle/>
          <a:p>
            <a:pPr indent="0" marL="0">
              <a:buNone/>
            </a:pPr>
            <a:r>
              <a:rPr lang="en-US" sz="1200" dirty="0">
                <a:solidFill>
                  <a:srgbClr val="5B6478"/>
                </a:solidFill>
                <a:latin typeface="Consolas" pitchFamily="34" charset="0"/>
                <a:ea typeface="Consolas" pitchFamily="34" charset="-122"/>
                <a:cs typeface="Consolas" pitchFamily="34" charset="-120"/>
              </a:rPr>
              <a:t>(사창동, 23:10)</a:t>
            </a:r>
            <a:endParaRPr lang="en-US" sz="1200" dirty="0"/>
          </a:p>
        </p:txBody>
      </p:sp>
      <p:sp>
        <p:nvSpPr>
          <p:cNvPr id="21" name="Text 17"/>
          <p:cNvSpPr txBox="1"/>
          <p:nvPr/>
        </p:nvSpPr>
        <p:spPr>
          <a:xfrm>
            <a:off x="4617720" y="4434840"/>
            <a:ext cx="3017520" cy="640080"/>
          </a:xfrm>
          <a:prstGeom prst="rect">
            <a:avLst/>
          </a:prstGeom>
          <a:noFill/>
          <a:ln/>
        </p:spPr>
        <p:txBody>
          <a:bodyPr wrap="square" lIns="0" tIns="0" rIns="0" bIns="0" rtlCol="0" anchor="ctr"/>
          <a:lstStyle/>
          <a:p>
            <a:pPr indent="0" marL="0">
              <a:buNone/>
            </a:pPr>
            <a:r>
              <a:rPr lang="en-US" sz="3200" b="1" dirty="0">
                <a:solidFill>
                  <a:srgbClr val="0F1B33"/>
                </a:solidFill>
                <a:latin typeface="Malgun Gothic" pitchFamily="34" charset="0"/>
                <a:ea typeface="Malgun Gothic" pitchFamily="34" charset="-122"/>
                <a:cs typeface="Malgun Gothic" pitchFamily="34" charset="-120"/>
              </a:rPr>
              <a:t>막차 22:30</a:t>
            </a:r>
            <a:endParaRPr lang="en-US" sz="3200" dirty="0"/>
          </a:p>
        </p:txBody>
      </p:sp>
      <p:sp>
        <p:nvSpPr>
          <p:cNvPr id="22" name="Text 18"/>
          <p:cNvSpPr txBox="1"/>
          <p:nvPr/>
        </p:nvSpPr>
        <p:spPr>
          <a:xfrm>
            <a:off x="4617720" y="5029200"/>
            <a:ext cx="3017520" cy="274320"/>
          </a:xfrm>
          <a:prstGeom prst="rect">
            <a:avLst/>
          </a:prstGeom>
          <a:noFill/>
          <a:ln/>
        </p:spPr>
        <p:txBody>
          <a:bodyPr wrap="square" lIns="0" tIns="0" rIns="0" bIns="0" rtlCol="0" anchor="ctr"/>
          <a:lstStyle/>
          <a:p>
            <a:pPr indent="0" marL="0">
              <a:buNone/>
            </a:pPr>
            <a:r>
              <a:rPr lang="en-US" sz="1300" dirty="0">
                <a:solidFill>
                  <a:srgbClr val="5B6478"/>
                </a:solidFill>
                <a:latin typeface="Malgun Gothic" pitchFamily="34" charset="0"/>
                <a:ea typeface="Malgun Gothic" pitchFamily="34" charset="-122"/>
                <a:cs typeface="Malgun Gothic" pitchFamily="34" charset="-120"/>
              </a:rPr>
              <a:t>이미 끊김</a:t>
            </a:r>
            <a:endParaRPr lang="en-US" sz="1300" dirty="0"/>
          </a:p>
        </p:txBody>
      </p:sp>
      <p:pic>
        <p:nvPicPr>
          <p:cNvPr id="23" name="Image 2" descr="preencoded.png">    </p:cNvPr>
          <p:cNvPicPr>
            <a:picLocks noChangeAspect="1"/>
          </p:cNvPicPr>
          <p:nvPr/>
        </p:nvPicPr>
        <p:blipFill>
          <a:blip r:embed="rId3"/>
          <a:stretch>
            <a:fillRect/>
          </a:stretch>
        </p:blipFill>
        <p:spPr>
          <a:xfrm>
            <a:off x="7818120" y="3931920"/>
            <a:ext cx="274320" cy="365760"/>
          </a:xfrm>
          <a:prstGeom prst="rect">
            <a:avLst/>
          </a:prstGeom>
        </p:spPr>
      </p:pic>
      <p:sp>
        <p:nvSpPr>
          <p:cNvPr id="24" name="Shape 19"/>
          <p:cNvSpPr/>
          <p:nvPr/>
        </p:nvSpPr>
        <p:spPr>
          <a:xfrm>
            <a:off x="8138160" y="2788920"/>
            <a:ext cx="3429000" cy="2651760"/>
          </a:xfrm>
          <a:prstGeom prst="roundRect">
            <a:avLst>
              <a:gd name="adj" fmla="val 4138"/>
            </a:avLst>
          </a:prstGeom>
          <a:solidFill>
            <a:srgbClr val="F3F5F9"/>
          </a:solidFill>
          <a:ln w="12700">
            <a:solidFill>
              <a:srgbClr val="F3F5F9"/>
            </a:solidFill>
            <a:prstDash val="solid"/>
          </a:ln>
        </p:spPr>
      </p:sp>
      <p:sp>
        <p:nvSpPr>
          <p:cNvPr id="25" name="Shape 20"/>
          <p:cNvSpPr/>
          <p:nvPr/>
        </p:nvSpPr>
        <p:spPr>
          <a:xfrm>
            <a:off x="8412480" y="3017520"/>
            <a:ext cx="502920" cy="502920"/>
          </a:xfrm>
          <a:prstGeom prst="ellipse">
            <a:avLst/>
          </a:prstGeom>
          <a:solidFill>
            <a:srgbClr val="F5B700"/>
          </a:solidFill>
          <a:ln w="12700">
            <a:solidFill>
              <a:srgbClr val="F5B700"/>
            </a:solidFill>
            <a:prstDash val="solid"/>
          </a:ln>
        </p:spPr>
      </p:sp>
      <p:sp>
        <p:nvSpPr>
          <p:cNvPr id="26" name="Text 21"/>
          <p:cNvSpPr txBox="1"/>
          <p:nvPr/>
        </p:nvSpPr>
        <p:spPr>
          <a:xfrm>
            <a:off x="8412480" y="3017520"/>
            <a:ext cx="502920" cy="502920"/>
          </a:xfrm>
          <a:prstGeom prst="rect">
            <a:avLst/>
          </a:prstGeom>
          <a:noFill/>
          <a:ln/>
        </p:spPr>
        <p:txBody>
          <a:bodyPr wrap="square" lIns="0" tIns="0" rIns="0" bIns="0" rtlCol="0" anchor="ctr"/>
          <a:lstStyle/>
          <a:p>
            <a:pPr algn="ctr" indent="0" marL="0">
              <a:buNone/>
            </a:pPr>
            <a:r>
              <a:rPr lang="en-US" sz="1800" b="1" dirty="0">
                <a:solidFill>
                  <a:srgbClr val="0F1B33"/>
                </a:solidFill>
                <a:latin typeface="Malgun Gothic" pitchFamily="34" charset="0"/>
                <a:ea typeface="Malgun Gothic" pitchFamily="34" charset="-122"/>
                <a:cs typeface="Malgun Gothic" pitchFamily="34" charset="-120"/>
              </a:rPr>
              <a:t>3</a:t>
            </a:r>
            <a:endParaRPr lang="en-US" sz="1800" dirty="0"/>
          </a:p>
        </p:txBody>
      </p:sp>
      <p:sp>
        <p:nvSpPr>
          <p:cNvPr id="27" name="Text 22"/>
          <p:cNvSpPr txBox="1"/>
          <p:nvPr/>
        </p:nvSpPr>
        <p:spPr>
          <a:xfrm>
            <a:off x="8412480" y="3657600"/>
            <a:ext cx="3017520" cy="365760"/>
          </a:xfrm>
          <a:prstGeom prst="rect">
            <a:avLst/>
          </a:prstGeom>
          <a:noFill/>
          <a:ln/>
        </p:spPr>
        <p:txBody>
          <a:bodyPr wrap="square" lIns="0" tIns="0" rIns="0" bIns="0" rtlCol="0" anchor="ctr"/>
          <a:lstStyle/>
          <a:p>
            <a:pPr indent="0" marL="0">
              <a:buNone/>
            </a:pPr>
            <a:r>
              <a:rPr lang="en-US" sz="1500" b="1" dirty="0">
                <a:solidFill>
                  <a:srgbClr val="0F1B33"/>
                </a:solidFill>
                <a:latin typeface="Consolas" pitchFamily="34" charset="0"/>
                <a:ea typeface="Consolas" pitchFamily="34" charset="-122"/>
                <a:cs typeface="Consolas" pitchFamily="34" charset="-120"/>
              </a:rPr>
              <a:t>estimate_taxi_cost</a:t>
            </a:r>
            <a:endParaRPr lang="en-US" sz="1500" dirty="0"/>
          </a:p>
        </p:txBody>
      </p:sp>
      <p:sp>
        <p:nvSpPr>
          <p:cNvPr id="28" name="Text 23"/>
          <p:cNvSpPr txBox="1"/>
          <p:nvPr/>
        </p:nvSpPr>
        <p:spPr>
          <a:xfrm>
            <a:off x="8412480" y="4005072"/>
            <a:ext cx="3017520" cy="320040"/>
          </a:xfrm>
          <a:prstGeom prst="rect">
            <a:avLst/>
          </a:prstGeom>
          <a:noFill/>
          <a:ln/>
        </p:spPr>
        <p:txBody>
          <a:bodyPr wrap="square" lIns="0" tIns="0" rIns="0" bIns="0" rtlCol="0" anchor="ctr"/>
          <a:lstStyle/>
          <a:p>
            <a:pPr indent="0" marL="0">
              <a:buNone/>
            </a:pPr>
            <a:r>
              <a:rPr lang="en-US" sz="1200" dirty="0">
                <a:solidFill>
                  <a:srgbClr val="5B6478"/>
                </a:solidFill>
                <a:latin typeface="Consolas" pitchFamily="34" charset="0"/>
                <a:ea typeface="Consolas" pitchFamily="34" charset="-122"/>
                <a:cs typeface="Consolas" pitchFamily="34" charset="-120"/>
              </a:rPr>
              <a:t>(25분, 23:10)</a:t>
            </a:r>
            <a:endParaRPr lang="en-US" sz="1200" dirty="0"/>
          </a:p>
        </p:txBody>
      </p:sp>
      <p:sp>
        <p:nvSpPr>
          <p:cNvPr id="29" name="Text 24"/>
          <p:cNvSpPr txBox="1"/>
          <p:nvPr/>
        </p:nvSpPr>
        <p:spPr>
          <a:xfrm>
            <a:off x="8412480" y="4434840"/>
            <a:ext cx="3017520" cy="640080"/>
          </a:xfrm>
          <a:prstGeom prst="rect">
            <a:avLst/>
          </a:prstGeom>
          <a:noFill/>
          <a:ln/>
        </p:spPr>
        <p:txBody>
          <a:bodyPr wrap="square" lIns="0" tIns="0" rIns="0" bIns="0" rtlCol="0" anchor="ctr"/>
          <a:lstStyle/>
          <a:p>
            <a:pPr indent="0" marL="0">
              <a:buNone/>
            </a:pPr>
            <a:r>
              <a:rPr lang="en-US" sz="3200" b="1" dirty="0">
                <a:solidFill>
                  <a:srgbClr val="0F1B33"/>
                </a:solidFill>
                <a:latin typeface="Malgun Gothic" pitchFamily="34" charset="0"/>
                <a:ea typeface="Malgun Gothic" pitchFamily="34" charset="-122"/>
                <a:cs typeface="Malgun Gothic" pitchFamily="34" charset="-120"/>
              </a:rPr>
              <a:t>9,400원</a:t>
            </a:r>
            <a:endParaRPr lang="en-US" sz="3200" dirty="0"/>
          </a:p>
        </p:txBody>
      </p:sp>
      <p:sp>
        <p:nvSpPr>
          <p:cNvPr id="30" name="Text 25"/>
          <p:cNvSpPr txBox="1"/>
          <p:nvPr/>
        </p:nvSpPr>
        <p:spPr>
          <a:xfrm>
            <a:off x="8412480" y="5029200"/>
            <a:ext cx="3017520" cy="274320"/>
          </a:xfrm>
          <a:prstGeom prst="rect">
            <a:avLst/>
          </a:prstGeom>
          <a:noFill/>
          <a:ln/>
        </p:spPr>
        <p:txBody>
          <a:bodyPr wrap="square" lIns="0" tIns="0" rIns="0" bIns="0" rtlCol="0" anchor="ctr"/>
          <a:lstStyle/>
          <a:p>
            <a:pPr indent="0" marL="0">
              <a:buNone/>
            </a:pPr>
            <a:r>
              <a:rPr lang="en-US" sz="1300" dirty="0">
                <a:solidFill>
                  <a:srgbClr val="5B6478"/>
                </a:solidFill>
                <a:latin typeface="Malgun Gothic" pitchFamily="34" charset="0"/>
                <a:ea typeface="Malgun Gothic" pitchFamily="34" charset="-122"/>
                <a:cs typeface="Malgun Gothic" pitchFamily="34" charset="-120"/>
              </a:rPr>
              <a:t>심야 할증</a:t>
            </a:r>
            <a:endParaRPr lang="en-US" sz="1300" dirty="0"/>
          </a:p>
        </p:txBody>
      </p:sp>
      <p:sp>
        <p:nvSpPr>
          <p:cNvPr id="31" name="Shape 26"/>
          <p:cNvSpPr/>
          <p:nvPr/>
        </p:nvSpPr>
        <p:spPr>
          <a:xfrm>
            <a:off x="548640" y="5715000"/>
            <a:ext cx="411480" cy="411480"/>
          </a:xfrm>
          <a:prstGeom prst="ellipse">
            <a:avLst/>
          </a:prstGeom>
          <a:solidFill>
            <a:srgbClr val="2E9E6B"/>
          </a:solidFill>
          <a:ln w="12700">
            <a:solidFill>
              <a:srgbClr val="2E9E6B"/>
            </a:solidFill>
            <a:prstDash val="solid"/>
          </a:ln>
        </p:spPr>
      </p:sp>
      <p:pic>
        <p:nvPicPr>
          <p:cNvPr id="32" name="Image 3" descr="preencoded.png">    </p:cNvPr>
          <p:cNvPicPr>
            <a:picLocks noChangeAspect="1"/>
          </p:cNvPicPr>
          <p:nvPr/>
        </p:nvPicPr>
        <p:blipFill>
          <a:blip r:embed="rId4"/>
          <a:stretch>
            <a:fillRect/>
          </a:stretch>
        </p:blipFill>
        <p:spPr>
          <a:xfrm>
            <a:off x="651510" y="5817870"/>
            <a:ext cx="205740" cy="205740"/>
          </a:xfrm>
          <a:prstGeom prst="rect">
            <a:avLst/>
          </a:prstGeom>
        </p:spPr>
      </p:pic>
      <p:sp>
        <p:nvSpPr>
          <p:cNvPr id="33" name="Text 27"/>
          <p:cNvSpPr txBox="1"/>
          <p:nvPr/>
        </p:nvSpPr>
        <p:spPr>
          <a:xfrm>
            <a:off x="1097280" y="5687568"/>
            <a:ext cx="10515600" cy="457200"/>
          </a:xfrm>
          <a:prstGeom prst="rect">
            <a:avLst/>
          </a:prstGeom>
          <a:noFill/>
          <a:ln/>
        </p:spPr>
        <p:txBody>
          <a:bodyPr wrap="square" lIns="0" tIns="0" rIns="0" bIns="0" rtlCol="0" anchor="ctr"/>
          <a:lstStyle/>
          <a:p>
            <a:pPr indent="0" marL="0">
              <a:buNone/>
            </a:pPr>
            <a:r>
              <a:rPr lang="en-US" sz="1400" dirty="0">
                <a:solidFill>
                  <a:srgbClr val="0F1B33"/>
                </a:solidFill>
                <a:latin typeface="Malgun Gothic" pitchFamily="34" charset="0"/>
                <a:ea typeface="Malgun Gothic" pitchFamily="34" charset="-122"/>
                <a:cs typeface="Malgun Gothic" pitchFamily="34" charset="-120"/>
              </a:rPr>
              <a:t>답변: "걸어가기 위험(82점). 막차가 끊겼으니 택시(약 9,400원)나 안심귀가 신청을 권합니다."</a:t>
            </a:r>
            <a:endParaRPr lang="en-US" sz="1400" dirty="0"/>
          </a:p>
        </p:txBody>
      </p:sp>
      <p:sp>
        <p:nvSpPr>
          <p:cNvPr id="34" name="Text 28"/>
          <p:cNvSpPr txBox="1"/>
          <p:nvPr/>
        </p:nvSpPr>
        <p:spPr>
          <a:xfrm>
            <a:off x="10972800" y="6400800"/>
            <a:ext cx="731520" cy="274320"/>
          </a:xfrm>
          <a:prstGeom prst="rect">
            <a:avLst/>
          </a:prstGeom>
          <a:noFill/>
          <a:ln/>
        </p:spPr>
        <p:txBody>
          <a:bodyPr wrap="square" lIns="0" tIns="0" rIns="0" bIns="0" rtlCol="0" anchor="ctr"/>
          <a:lstStyle/>
          <a:p>
            <a:pPr algn="r" indent="0" marL="0">
              <a:buNone/>
            </a:pPr>
            <a:r>
              <a:rPr lang="en-US" sz="1000" dirty="0">
                <a:solidFill>
                  <a:srgbClr val="5B6478"/>
                </a:solidFill>
                <a:latin typeface="Malgun Gothic" pitchFamily="34" charset="0"/>
                <a:ea typeface="Malgun Gothic" pitchFamily="34" charset="-122"/>
                <a:cs typeface="Malgun Gothic" pitchFamily="34" charset="-120"/>
              </a:rPr>
              <a:t>4 / 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0F1B33"/>
                </a:solidFill>
                <a:latin typeface="Malgun Gothic" pitchFamily="34" charset="0"/>
                <a:ea typeface="Malgun Gothic" pitchFamily="34" charset="-122"/>
                <a:cs typeface="Malgun Gothic" pitchFamily="34" charset="-120"/>
              </a:rPr>
              <a:t>시연 ②  오류 회복 · 쓰기 전 확인</a:t>
            </a:r>
            <a:endParaRPr lang="en-US" sz="32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500" dirty="0">
                <a:solidFill>
                  <a:srgbClr val="5B6478"/>
                </a:solidFill>
                <a:latin typeface="Malgun Gothic" pitchFamily="34" charset="0"/>
                <a:ea typeface="Malgun Gothic" pitchFamily="34" charset="-122"/>
                <a:cs typeface="Malgun Gothic" pitchFamily="34" charset="-120"/>
              </a:rPr>
              <a:t>도구는 예외를 던지지 않고, 다음에 할 일을 알려주는 오류를 돌려준다</a:t>
            </a:r>
            <a:endParaRPr lang="en-US" sz="1500" dirty="0"/>
          </a:p>
        </p:txBody>
      </p:sp>
      <p:sp>
        <p:nvSpPr>
          <p:cNvPr id="4" name="Shape 2"/>
          <p:cNvSpPr/>
          <p:nvPr/>
        </p:nvSpPr>
        <p:spPr>
          <a:xfrm>
            <a:off x="548640" y="1737360"/>
            <a:ext cx="5440680" cy="3977640"/>
          </a:xfrm>
          <a:prstGeom prst="roundRect">
            <a:avLst>
              <a:gd name="adj" fmla="val 2759"/>
            </a:avLst>
          </a:prstGeom>
          <a:solidFill>
            <a:srgbClr val="F3F5F9"/>
          </a:solidFill>
          <a:ln w="12700">
            <a:solidFill>
              <a:srgbClr val="F3F5F9"/>
            </a:solidFill>
            <a:prstDash val="solid"/>
          </a:ln>
        </p:spPr>
      </p:sp>
      <p:sp>
        <p:nvSpPr>
          <p:cNvPr id="5" name="Shape 3"/>
          <p:cNvSpPr/>
          <p:nvPr/>
        </p:nvSpPr>
        <p:spPr>
          <a:xfrm>
            <a:off x="868680" y="1965960"/>
            <a:ext cx="640080" cy="640080"/>
          </a:xfrm>
          <a:prstGeom prst="ellipse">
            <a:avLst/>
          </a:prstGeom>
          <a:solidFill>
            <a:srgbClr val="D64545"/>
          </a:solidFill>
          <a:ln w="12700">
            <a:solidFill>
              <a:srgbClr val="D64545"/>
            </a:solidFill>
            <a:prstDash val="solid"/>
          </a:ln>
        </p:spPr>
      </p:sp>
      <p:pic>
        <p:nvPicPr>
          <p:cNvPr id="6" name="Image 0" descr="preencoded.png">    </p:cNvPr>
          <p:cNvPicPr>
            <a:picLocks noChangeAspect="1"/>
          </p:cNvPicPr>
          <p:nvPr/>
        </p:nvPicPr>
        <p:blipFill>
          <a:blip r:embed="rId1"/>
          <a:stretch>
            <a:fillRect/>
          </a:stretch>
        </p:blipFill>
        <p:spPr>
          <a:xfrm>
            <a:off x="1028700" y="2125980"/>
            <a:ext cx="320040" cy="320040"/>
          </a:xfrm>
          <a:prstGeom prst="rect">
            <a:avLst/>
          </a:prstGeom>
        </p:spPr>
      </p:pic>
      <p:sp>
        <p:nvSpPr>
          <p:cNvPr id="7" name="Text 4"/>
          <p:cNvSpPr txBox="1"/>
          <p:nvPr/>
        </p:nvSpPr>
        <p:spPr>
          <a:xfrm>
            <a:off x="1691640" y="1965960"/>
            <a:ext cx="4023360" cy="640080"/>
          </a:xfrm>
          <a:prstGeom prst="rect">
            <a:avLst/>
          </a:prstGeom>
          <a:noFill/>
          <a:ln/>
        </p:spPr>
        <p:txBody>
          <a:bodyPr wrap="square" lIns="0" tIns="0" rIns="0" bIns="0" rtlCol="0" anchor="ctr"/>
          <a:lstStyle/>
          <a:p>
            <a:pPr indent="0" marL="0">
              <a:buNone/>
            </a:pPr>
            <a:r>
              <a:rPr lang="en-US" sz="2200" b="1" dirty="0">
                <a:solidFill>
                  <a:srgbClr val="0F1B33"/>
                </a:solidFill>
                <a:latin typeface="Malgun Gothic" pitchFamily="34" charset="0"/>
                <a:ea typeface="Malgun Gothic" pitchFamily="34" charset="-122"/>
                <a:cs typeface="Malgun Gothic" pitchFamily="34" charset="-120"/>
              </a:rPr>
              <a:t>오류에서 회복</a:t>
            </a:r>
            <a:endParaRPr lang="en-US" sz="2200" dirty="0"/>
          </a:p>
        </p:txBody>
      </p:sp>
      <p:sp>
        <p:nvSpPr>
          <p:cNvPr id="8" name="Text 5"/>
          <p:cNvSpPr txBox="1"/>
          <p:nvPr/>
        </p:nvSpPr>
        <p:spPr>
          <a:xfrm>
            <a:off x="868680" y="2788920"/>
            <a:ext cx="4846320" cy="777240"/>
          </a:xfrm>
          <a:prstGeom prst="rect">
            <a:avLst/>
          </a:prstGeom>
          <a:noFill/>
          <a:ln/>
        </p:spPr>
        <p:txBody>
          <a:bodyPr wrap="square" lIns="0" tIns="0" rIns="0" bIns="0" rtlCol="0" anchor="t"/>
          <a:lstStyle/>
          <a:p>
            <a:pPr indent="0" marL="0">
              <a:buNone/>
            </a:pPr>
            <a:r>
              <a:rPr lang="en-US" sz="1500" b="1" dirty="0">
                <a:solidFill>
                  <a:srgbClr val="0F1B33"/>
                </a:solidFill>
                <a:latin typeface="Malgun Gothic" pitchFamily="34" charset="0"/>
                <a:ea typeface="Malgun Gothic" pitchFamily="34" charset="-122"/>
                <a:cs typeface="Malgun Gothic" pitchFamily="34" charset="-120"/>
              </a:rPr>
              <a:t>"밤 11시에 송정동 가는 길 안전해?"</a:t>
            </a:r>
            <a:endParaRPr lang="en-US" sz="1500" dirty="0"/>
          </a:p>
        </p:txBody>
      </p:sp>
      <p:sp>
        <p:nvSpPr>
          <p:cNvPr id="9" name="Shape 6"/>
          <p:cNvSpPr/>
          <p:nvPr/>
        </p:nvSpPr>
        <p:spPr>
          <a:xfrm>
            <a:off x="868680" y="3611880"/>
            <a:ext cx="4800600" cy="1188720"/>
          </a:xfrm>
          <a:prstGeom prst="roundRect">
            <a:avLst>
              <a:gd name="adj" fmla="val 6154"/>
            </a:avLst>
          </a:prstGeom>
          <a:solidFill>
            <a:srgbClr val="0F1B33"/>
          </a:solidFill>
          <a:ln w="12700">
            <a:solidFill>
              <a:srgbClr val="0F1B33"/>
            </a:solidFill>
            <a:prstDash val="solid"/>
          </a:ln>
        </p:spPr>
      </p:sp>
      <p:sp>
        <p:nvSpPr>
          <p:cNvPr id="10" name="Text 7"/>
          <p:cNvSpPr txBox="1"/>
          <p:nvPr/>
        </p:nvSpPr>
        <p:spPr>
          <a:xfrm>
            <a:off x="1051560" y="3657600"/>
            <a:ext cx="4526280" cy="1097280"/>
          </a:xfrm>
          <a:prstGeom prst="rect">
            <a:avLst/>
          </a:prstGeom>
          <a:noFill/>
          <a:ln/>
        </p:spPr>
        <p:txBody>
          <a:bodyPr wrap="square" lIns="0" tIns="0" rIns="0" bIns="0" rtlCol="0" anchor="ctr"/>
          <a:lstStyle/>
          <a:p>
            <a:pPr indent="0" marL="0">
              <a:buNone/>
            </a:pPr>
            <a:r>
              <a:rPr lang="en-US" sz="1300" dirty="0">
                <a:solidFill>
                  <a:srgbClr val="FFF4CC"/>
                </a:solidFill>
                <a:latin typeface="Consolas" pitchFamily="34" charset="0"/>
                <a:ea typeface="Consolas" pitchFamily="34" charset="-122"/>
                <a:cs typeface="Consolas" pitchFamily="34" charset="-120"/>
              </a:rPr>
              <a:t>{"error": "Unknown area '송정동'.</a:t>
            </a:r>
            <a:endParaRPr lang="en-US" sz="1300" dirty="0"/>
          </a:p>
          <a:p>
            <a:pPr indent="0" marL="0">
              <a:buNone/>
            </a:pPr>
            <a:r>
              <a:rPr lang="en-US" sz="1300" dirty="0">
                <a:solidFill>
                  <a:srgbClr val="FFF4CC"/>
                </a:solidFill>
                <a:latin typeface="Consolas" pitchFamily="34" charset="0"/>
                <a:ea typeface="Consolas" pitchFamily="34" charset="-122"/>
                <a:cs typeface="Consolas" pitchFamily="34" charset="-120"/>
              </a:rPr>
              <a:t> Valid: 개신동, 사창동, 복대동,</a:t>
            </a:r>
            <a:endParaRPr lang="en-US" sz="1300" dirty="0"/>
          </a:p>
          <a:p>
            <a:pPr indent="0" marL="0">
              <a:buNone/>
            </a:pPr>
            <a:r>
              <a:rPr lang="en-US" sz="1300" dirty="0">
                <a:solidFill>
                  <a:srgbClr val="FFF4CC"/>
                </a:solidFill>
                <a:latin typeface="Consolas" pitchFamily="34" charset="0"/>
                <a:ea typeface="Consolas" pitchFamily="34" charset="-122"/>
                <a:cs typeface="Consolas" pitchFamily="34" charset="-120"/>
              </a:rPr>
              <a:t> 봉명동, 율량동."}</a:t>
            </a:r>
            <a:endParaRPr lang="en-US" sz="1300" dirty="0"/>
          </a:p>
        </p:txBody>
      </p:sp>
      <p:sp>
        <p:nvSpPr>
          <p:cNvPr id="11" name="Text 8"/>
          <p:cNvSpPr txBox="1"/>
          <p:nvPr/>
        </p:nvSpPr>
        <p:spPr>
          <a:xfrm>
            <a:off x="868680" y="4983480"/>
            <a:ext cx="4846320" cy="548640"/>
          </a:xfrm>
          <a:prstGeom prst="rect">
            <a:avLst/>
          </a:prstGeom>
          <a:noFill/>
          <a:ln/>
        </p:spPr>
        <p:txBody>
          <a:bodyPr wrap="square" lIns="0" tIns="0" rIns="0" bIns="0" rtlCol="0" anchor="t"/>
          <a:lstStyle/>
          <a:p>
            <a:pPr indent="0" marL="0">
              <a:buNone/>
            </a:pPr>
            <a:r>
              <a:rPr lang="en-US" sz="1400" dirty="0">
                <a:solidFill>
                  <a:srgbClr val="0F1B33"/>
                </a:solidFill>
                <a:latin typeface="Malgun Gothic" pitchFamily="34" charset="0"/>
                <a:ea typeface="Malgun Gothic" pitchFamily="34" charset="-122"/>
                <a:cs typeface="Malgun Gothic" pitchFamily="34" charset="-120"/>
              </a:rPr>
              <a:t>멈추지 않고 가능한 지역 5곳을 안내 → 다시 질문</a:t>
            </a:r>
            <a:endParaRPr lang="en-US" sz="1400" dirty="0"/>
          </a:p>
        </p:txBody>
      </p:sp>
      <p:sp>
        <p:nvSpPr>
          <p:cNvPr id="12" name="Shape 9"/>
          <p:cNvSpPr/>
          <p:nvPr/>
        </p:nvSpPr>
        <p:spPr>
          <a:xfrm>
            <a:off x="6172200" y="1737360"/>
            <a:ext cx="5440680" cy="3977640"/>
          </a:xfrm>
          <a:prstGeom prst="roundRect">
            <a:avLst>
              <a:gd name="adj" fmla="val 2759"/>
            </a:avLst>
          </a:prstGeom>
          <a:solidFill>
            <a:srgbClr val="F3F5F9"/>
          </a:solidFill>
          <a:ln w="12700">
            <a:solidFill>
              <a:srgbClr val="F3F5F9"/>
            </a:solidFill>
            <a:prstDash val="solid"/>
          </a:ln>
        </p:spPr>
      </p:sp>
      <p:sp>
        <p:nvSpPr>
          <p:cNvPr id="13" name="Shape 10"/>
          <p:cNvSpPr/>
          <p:nvPr/>
        </p:nvSpPr>
        <p:spPr>
          <a:xfrm>
            <a:off x="6492240" y="1965960"/>
            <a:ext cx="640080" cy="640080"/>
          </a:xfrm>
          <a:prstGeom prst="ellipse">
            <a:avLst/>
          </a:prstGeom>
          <a:solidFill>
            <a:srgbClr val="2E9E6B"/>
          </a:solidFill>
          <a:ln w="12700">
            <a:solidFill>
              <a:srgbClr val="2E9E6B"/>
            </a:solidFill>
            <a:prstDash val="solid"/>
          </a:ln>
        </p:spPr>
      </p:sp>
      <p:pic>
        <p:nvPicPr>
          <p:cNvPr id="14" name="Image 1" descr="preencoded.png">    </p:cNvPr>
          <p:cNvPicPr>
            <a:picLocks noChangeAspect="1"/>
          </p:cNvPicPr>
          <p:nvPr/>
        </p:nvPicPr>
        <p:blipFill>
          <a:blip r:embed="rId2"/>
          <a:stretch>
            <a:fillRect/>
          </a:stretch>
        </p:blipFill>
        <p:spPr>
          <a:xfrm>
            <a:off x="6652260" y="2125980"/>
            <a:ext cx="320040" cy="320040"/>
          </a:xfrm>
          <a:prstGeom prst="rect">
            <a:avLst/>
          </a:prstGeom>
        </p:spPr>
      </p:pic>
      <p:sp>
        <p:nvSpPr>
          <p:cNvPr id="15" name="Text 11"/>
          <p:cNvSpPr txBox="1"/>
          <p:nvPr/>
        </p:nvSpPr>
        <p:spPr>
          <a:xfrm>
            <a:off x="7315200" y="1965960"/>
            <a:ext cx="4023360" cy="640080"/>
          </a:xfrm>
          <a:prstGeom prst="rect">
            <a:avLst/>
          </a:prstGeom>
          <a:noFill/>
          <a:ln/>
        </p:spPr>
        <p:txBody>
          <a:bodyPr wrap="square" lIns="0" tIns="0" rIns="0" bIns="0" rtlCol="0" anchor="ctr"/>
          <a:lstStyle/>
          <a:p>
            <a:pPr indent="0" marL="0">
              <a:buNone/>
            </a:pPr>
            <a:r>
              <a:rPr lang="en-US" sz="2200" b="1" dirty="0">
                <a:solidFill>
                  <a:srgbClr val="0F1B33"/>
                </a:solidFill>
                <a:latin typeface="Malgun Gothic" pitchFamily="34" charset="0"/>
                <a:ea typeface="Malgun Gothic" pitchFamily="34" charset="-122"/>
                <a:cs typeface="Malgun Gothic" pitchFamily="34" charset="-120"/>
              </a:rPr>
              <a:t>쓰기 전에 확인</a:t>
            </a:r>
            <a:endParaRPr lang="en-US" sz="2200" dirty="0"/>
          </a:p>
        </p:txBody>
      </p:sp>
      <p:sp>
        <p:nvSpPr>
          <p:cNvPr id="16" name="Text 12"/>
          <p:cNvSpPr txBox="1"/>
          <p:nvPr/>
        </p:nvSpPr>
        <p:spPr>
          <a:xfrm>
            <a:off x="6492240" y="2788920"/>
            <a:ext cx="4846320" cy="777240"/>
          </a:xfrm>
          <a:prstGeom prst="rect">
            <a:avLst/>
          </a:prstGeom>
          <a:noFill/>
          <a:ln/>
        </p:spPr>
        <p:txBody>
          <a:bodyPr wrap="square" lIns="0" tIns="0" rIns="0" bIns="0" rtlCol="0" anchor="t"/>
          <a:lstStyle/>
          <a:p>
            <a:pPr indent="0" marL="0">
              <a:buNone/>
            </a:pPr>
            <a:r>
              <a:rPr lang="en-US" sz="1500" b="1" dirty="0">
                <a:solidFill>
                  <a:srgbClr val="0F1B33"/>
                </a:solidFill>
                <a:latin typeface="Malgun Gothic" pitchFamily="34" charset="0"/>
                <a:ea typeface="Malgun Gothic" pitchFamily="34" charset="-122"/>
                <a:cs typeface="Malgun Gothic" pitchFamily="34" charset="-120"/>
              </a:rPr>
              <a:t>"내일 밤 11시 정문에서 사창동까지</a:t>
            </a:r>
            <a:endParaRPr lang="en-US" sz="1500" dirty="0"/>
          </a:p>
          <a:p>
            <a:pPr indent="0" marL="0">
              <a:buNone/>
            </a:pPr>
            <a:r>
              <a:rPr lang="en-US" sz="1500" b="1" dirty="0">
                <a:solidFill>
                  <a:srgbClr val="0F1B33"/>
                </a:solidFill>
                <a:latin typeface="Malgun Gothic" pitchFamily="34" charset="0"/>
                <a:ea typeface="Malgun Gothic" pitchFamily="34" charset="-122"/>
                <a:cs typeface="Malgun Gothic" pitchFamily="34" charset="-120"/>
              </a:rPr>
              <a:t>안심귀가 신청해 줘"</a:t>
            </a:r>
            <a:endParaRPr lang="en-US" sz="1500" dirty="0"/>
          </a:p>
        </p:txBody>
      </p:sp>
      <p:sp>
        <p:nvSpPr>
          <p:cNvPr id="17" name="Shape 13"/>
          <p:cNvSpPr/>
          <p:nvPr/>
        </p:nvSpPr>
        <p:spPr>
          <a:xfrm>
            <a:off x="6492240" y="3611880"/>
            <a:ext cx="4800600" cy="1188720"/>
          </a:xfrm>
          <a:prstGeom prst="roundRect">
            <a:avLst>
              <a:gd name="adj" fmla="val 6154"/>
            </a:avLst>
          </a:prstGeom>
          <a:solidFill>
            <a:srgbClr val="0F1B33"/>
          </a:solidFill>
          <a:ln w="12700">
            <a:solidFill>
              <a:srgbClr val="0F1B33"/>
            </a:solidFill>
            <a:prstDash val="solid"/>
          </a:ln>
        </p:spPr>
      </p:sp>
      <p:sp>
        <p:nvSpPr>
          <p:cNvPr id="18" name="Text 14"/>
          <p:cNvSpPr txBox="1"/>
          <p:nvPr/>
        </p:nvSpPr>
        <p:spPr>
          <a:xfrm>
            <a:off x="6675120" y="3657600"/>
            <a:ext cx="4526280" cy="1097280"/>
          </a:xfrm>
          <a:prstGeom prst="rect">
            <a:avLst/>
          </a:prstGeom>
          <a:noFill/>
          <a:ln/>
        </p:spPr>
        <p:txBody>
          <a:bodyPr wrap="square" lIns="0" tIns="0" rIns="0" bIns="0" rtlCol="0" anchor="ctr"/>
          <a:lstStyle/>
          <a:p>
            <a:pPr indent="0" marL="0">
              <a:buNone/>
            </a:pPr>
            <a:r>
              <a:rPr lang="en-US" sz="1300" dirty="0">
                <a:solidFill>
                  <a:srgbClr val="FFF4CC"/>
                </a:solidFill>
                <a:latin typeface="Consolas" pitchFamily="34" charset="0"/>
                <a:ea typeface="Consolas" pitchFamily="34" charset="-122"/>
                <a:cs typeface="Consolas" pitchFamily="34" charset="-120"/>
              </a:rPr>
              <a:t>① 요약 후 "신청할까요?"</a:t>
            </a:r>
            <a:endParaRPr lang="en-US" sz="1300" dirty="0"/>
          </a:p>
          <a:p>
            <a:pPr indent="0" marL="0">
              <a:buNone/>
            </a:pPr>
            <a:r>
              <a:rPr lang="en-US" sz="1300" dirty="0">
                <a:solidFill>
                  <a:srgbClr val="FFF4CC"/>
                </a:solidFill>
                <a:latin typeface="Consolas" pitchFamily="34" charset="0"/>
                <a:ea typeface="Consolas" pitchFamily="34" charset="-122"/>
                <a:cs typeface="Consolas" pitchFamily="34" charset="-120"/>
              </a:rPr>
              <a:t>② 사용자 "응"</a:t>
            </a:r>
            <a:endParaRPr lang="en-US" sz="1300" dirty="0"/>
          </a:p>
          <a:p>
            <a:pPr indent="0" marL="0">
              <a:buNone/>
            </a:pPr>
            <a:r>
              <a:rPr lang="en-US" sz="1300" dirty="0">
                <a:solidFill>
                  <a:srgbClr val="FFF4CC"/>
                </a:solidFill>
                <a:latin typeface="Consolas" pitchFamily="34" charset="0"/>
                <a:ea typeface="Consolas" pitchFamily="34" charset="-122"/>
                <a:cs typeface="Consolas" pitchFamily="34" charset="-120"/>
              </a:rPr>
              <a:t>③ request_escort(confirmed=true)</a:t>
            </a:r>
            <a:endParaRPr lang="en-US" sz="1300" dirty="0"/>
          </a:p>
        </p:txBody>
      </p:sp>
      <p:sp>
        <p:nvSpPr>
          <p:cNvPr id="19" name="Text 15"/>
          <p:cNvSpPr txBox="1"/>
          <p:nvPr/>
        </p:nvSpPr>
        <p:spPr>
          <a:xfrm>
            <a:off x="6492240" y="4983480"/>
            <a:ext cx="4846320" cy="548640"/>
          </a:xfrm>
          <a:prstGeom prst="rect">
            <a:avLst/>
          </a:prstGeom>
          <a:noFill/>
          <a:ln/>
        </p:spPr>
        <p:txBody>
          <a:bodyPr wrap="square" lIns="0" tIns="0" rIns="0" bIns="0" rtlCol="0" anchor="t"/>
          <a:lstStyle/>
          <a:p>
            <a:pPr indent="0" marL="0">
              <a:buNone/>
            </a:pPr>
            <a:r>
              <a:rPr lang="en-US" sz="1400" dirty="0">
                <a:solidFill>
                  <a:srgbClr val="0F1B33"/>
                </a:solidFill>
                <a:latin typeface="Malgun Gothic" pitchFamily="34" charset="0"/>
                <a:ea typeface="Malgun Gothic" pitchFamily="34" charset="-122"/>
                <a:cs typeface="Malgun Gothic" pitchFamily="34" charset="-120"/>
              </a:rPr>
              <a:t>"응" 전에는 데이터 불변 · 운영시간(22–01시) 밖이면 오류</a:t>
            </a:r>
            <a:endParaRPr lang="en-US" sz="1400" dirty="0"/>
          </a:p>
        </p:txBody>
      </p:sp>
      <p:sp>
        <p:nvSpPr>
          <p:cNvPr id="20" name="Text 16"/>
          <p:cNvSpPr txBox="1"/>
          <p:nvPr/>
        </p:nvSpPr>
        <p:spPr>
          <a:xfrm>
            <a:off x="10972800" y="6400800"/>
            <a:ext cx="731520" cy="274320"/>
          </a:xfrm>
          <a:prstGeom prst="rect">
            <a:avLst/>
          </a:prstGeom>
          <a:noFill/>
          <a:ln/>
        </p:spPr>
        <p:txBody>
          <a:bodyPr wrap="square" lIns="0" tIns="0" rIns="0" bIns="0" rtlCol="0" anchor="ctr"/>
          <a:lstStyle/>
          <a:p>
            <a:pPr algn="r" indent="0" marL="0">
              <a:buNone/>
            </a:pPr>
            <a:r>
              <a:rPr lang="en-US" sz="1000" dirty="0">
                <a:solidFill>
                  <a:srgbClr val="5B6478"/>
                </a:solidFill>
                <a:latin typeface="Malgun Gothic" pitchFamily="34" charset="0"/>
                <a:ea typeface="Malgun Gothic" pitchFamily="34" charset="-122"/>
                <a:cs typeface="Malgun Gothic" pitchFamily="34" charset="-120"/>
              </a:rPr>
              <a:t>5 / 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200" b="1" dirty="0">
                <a:solidFill>
                  <a:srgbClr val="0F1B33"/>
                </a:solidFill>
                <a:latin typeface="Malgun Gothic" pitchFamily="34" charset="0"/>
                <a:ea typeface="Malgun Gothic" pitchFamily="34" charset="-122"/>
                <a:cs typeface="Malgun Gothic" pitchFamily="34" charset="-120"/>
              </a:rPr>
              <a:t>estimate_walk_risk는 어떻게 계산하나</a:t>
            </a:r>
            <a:endParaRPr lang="en-US" sz="32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500" dirty="0">
                <a:solidFill>
                  <a:srgbClr val="5B6478"/>
                </a:solidFill>
                <a:latin typeface="Malgun Gothic" pitchFamily="34" charset="0"/>
                <a:ea typeface="Malgun Gothic" pitchFamily="34" charset="-122"/>
                <a:cs typeface="Malgun Gothic" pitchFamily="34" charset="-120"/>
              </a:rPr>
              <a:t>LLM의 감이 아니라 정해진 공식: 같은 입력이면 항상 같은 점수</a:t>
            </a:r>
            <a:endParaRPr lang="en-US" sz="1500" dirty="0"/>
          </a:p>
        </p:txBody>
      </p:sp>
      <p:sp>
        <p:nvSpPr>
          <p:cNvPr id="4" name="Text 2"/>
          <p:cNvSpPr txBox="1"/>
          <p:nvPr/>
        </p:nvSpPr>
        <p:spPr>
          <a:xfrm>
            <a:off x="548640" y="1783080"/>
            <a:ext cx="5486400" cy="365760"/>
          </a:xfrm>
          <a:prstGeom prst="rect">
            <a:avLst/>
          </a:prstGeom>
          <a:noFill/>
          <a:ln/>
        </p:spPr>
        <p:txBody>
          <a:bodyPr wrap="square" lIns="0" tIns="0" rIns="0" bIns="0" rtlCol="0" anchor="ctr"/>
          <a:lstStyle/>
          <a:p>
            <a:pPr indent="0" marL="0">
              <a:buNone/>
            </a:pPr>
            <a:r>
              <a:rPr lang="en-US" sz="1600" b="1" dirty="0">
                <a:solidFill>
                  <a:srgbClr val="0F1B33"/>
                </a:solidFill>
                <a:latin typeface="Malgun Gothic" pitchFamily="34" charset="0"/>
                <a:ea typeface="Malgun Gothic" pitchFamily="34" charset="-122"/>
                <a:cs typeface="Malgun Gothic" pitchFamily="34" charset="-120"/>
              </a:rPr>
              <a:t>사창동 · 23:10</a:t>
            </a:r>
            <a:endParaRPr lang="en-US" sz="1600" dirty="0"/>
          </a:p>
        </p:txBody>
      </p:sp>
      <p:sp>
        <p:nvSpPr>
          <p:cNvPr id="5" name="Shape 3"/>
          <p:cNvSpPr/>
          <p:nvPr/>
        </p:nvSpPr>
        <p:spPr>
          <a:xfrm>
            <a:off x="548640" y="2240280"/>
            <a:ext cx="4425696" cy="822960"/>
          </a:xfrm>
          <a:prstGeom prst="rect">
            <a:avLst/>
          </a:prstGeom>
          <a:solidFill>
            <a:srgbClr val="0F1B33"/>
          </a:solidFill>
          <a:ln w="19050">
            <a:solidFill>
              <a:srgbClr val="FFFFFF"/>
            </a:solidFill>
            <a:prstDash val="solid"/>
          </a:ln>
        </p:spPr>
      </p:sp>
      <p:sp>
        <p:nvSpPr>
          <p:cNvPr id="6" name="Text 4"/>
          <p:cNvSpPr txBox="1"/>
          <p:nvPr/>
        </p:nvSpPr>
        <p:spPr>
          <a:xfrm>
            <a:off x="548640" y="2240280"/>
            <a:ext cx="4425696"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+40</a:t>
            </a:r>
            <a:endParaRPr lang="en-US" sz="1800" dirty="0"/>
          </a:p>
        </p:txBody>
      </p:sp>
      <p:sp>
        <p:nvSpPr>
          <p:cNvPr id="7" name="Shape 5"/>
          <p:cNvSpPr/>
          <p:nvPr/>
        </p:nvSpPr>
        <p:spPr>
          <a:xfrm>
            <a:off x="4974336" y="2240280"/>
            <a:ext cx="1327709" cy="822960"/>
          </a:xfrm>
          <a:prstGeom prst="rect">
            <a:avLst/>
          </a:prstGeom>
          <a:solidFill>
            <a:srgbClr val="3D5A99"/>
          </a:solidFill>
          <a:ln w="19050">
            <a:solidFill>
              <a:srgbClr val="FFFFFF"/>
            </a:solidFill>
            <a:prstDash val="solid"/>
          </a:ln>
        </p:spPr>
      </p:sp>
      <p:sp>
        <p:nvSpPr>
          <p:cNvPr id="8" name="Text 6"/>
          <p:cNvSpPr txBox="1"/>
          <p:nvPr/>
        </p:nvSpPr>
        <p:spPr>
          <a:xfrm>
            <a:off x="4974336" y="2240280"/>
            <a:ext cx="1327709"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+12</a:t>
            </a:r>
            <a:endParaRPr lang="en-US" sz="1800" dirty="0"/>
          </a:p>
        </p:txBody>
      </p:sp>
      <p:sp>
        <p:nvSpPr>
          <p:cNvPr id="9" name="Shape 7"/>
          <p:cNvSpPr/>
          <p:nvPr/>
        </p:nvSpPr>
        <p:spPr>
          <a:xfrm>
            <a:off x="6302045" y="2240280"/>
            <a:ext cx="1106424" cy="822960"/>
          </a:xfrm>
          <a:prstGeom prst="rect">
            <a:avLst/>
          </a:prstGeom>
          <a:solidFill>
            <a:srgbClr val="6C8CCB"/>
          </a:solidFill>
          <a:ln w="19050">
            <a:solidFill>
              <a:srgbClr val="FFFFFF"/>
            </a:solidFill>
            <a:prstDash val="solid"/>
          </a:ln>
        </p:spPr>
      </p:sp>
      <p:sp>
        <p:nvSpPr>
          <p:cNvPr id="10" name="Text 8"/>
          <p:cNvSpPr txBox="1"/>
          <p:nvPr/>
        </p:nvSpPr>
        <p:spPr>
          <a:xfrm>
            <a:off x="6302045" y="2240280"/>
            <a:ext cx="1106424"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+10</a:t>
            </a:r>
            <a:endParaRPr lang="en-US" sz="1800" dirty="0"/>
          </a:p>
        </p:txBody>
      </p:sp>
      <p:sp>
        <p:nvSpPr>
          <p:cNvPr id="11" name="Shape 9"/>
          <p:cNvSpPr/>
          <p:nvPr/>
        </p:nvSpPr>
        <p:spPr>
          <a:xfrm>
            <a:off x="7408469" y="2240280"/>
            <a:ext cx="1106424" cy="822960"/>
          </a:xfrm>
          <a:prstGeom prst="rect">
            <a:avLst/>
          </a:prstGeom>
          <a:solidFill>
            <a:srgbClr val="D9A400"/>
          </a:solidFill>
          <a:ln w="19050">
            <a:solidFill>
              <a:srgbClr val="FFFFFF"/>
            </a:solidFill>
            <a:prstDash val="solid"/>
          </a:ln>
        </p:spPr>
      </p:sp>
      <p:sp>
        <p:nvSpPr>
          <p:cNvPr id="12" name="Text 10"/>
          <p:cNvSpPr txBox="1"/>
          <p:nvPr/>
        </p:nvSpPr>
        <p:spPr>
          <a:xfrm>
            <a:off x="7408469" y="2240280"/>
            <a:ext cx="1106424" cy="822960"/>
          </a:xfrm>
          <a:prstGeom prst="rect">
            <a:avLst/>
          </a:prstGeom>
          <a:noFill/>
          <a:ln/>
        </p:spPr>
        <p:txBody>
          <a:bodyPr wrap="square" lIns="0" tIns="0" rIns="0" bIns="0" rtlCol="0" anchor="ctr"/>
          <a:lstStyle/>
          <a:p>
            <a:pPr algn="ctr" indent="0" marL="0">
              <a:buNone/>
            </a:pPr>
            <a:r>
              <a:rPr lang="en-US" sz="1800" b="1" dirty="0">
                <a:solidFill>
                  <a:srgbClr val="0F1B33"/>
                </a:solidFill>
                <a:latin typeface="Malgun Gothic" pitchFamily="34" charset="0"/>
                <a:ea typeface="Malgun Gothic" pitchFamily="34" charset="-122"/>
                <a:cs typeface="Malgun Gothic" pitchFamily="34" charset="-120"/>
              </a:rPr>
              <a:t>+10</a:t>
            </a:r>
            <a:endParaRPr lang="en-US" sz="1800" dirty="0"/>
          </a:p>
        </p:txBody>
      </p:sp>
      <p:sp>
        <p:nvSpPr>
          <p:cNvPr id="13" name="Shape 11"/>
          <p:cNvSpPr/>
          <p:nvPr/>
        </p:nvSpPr>
        <p:spPr>
          <a:xfrm>
            <a:off x="8514893" y="2240280"/>
            <a:ext cx="1106424" cy="822960"/>
          </a:xfrm>
          <a:prstGeom prst="rect">
            <a:avLst/>
          </a:prstGeom>
          <a:solidFill>
            <a:srgbClr val="F5B700"/>
          </a:solidFill>
          <a:ln w="19050">
            <a:solidFill>
              <a:srgbClr val="FFFFFF"/>
            </a:solidFill>
            <a:prstDash val="solid"/>
          </a:ln>
        </p:spPr>
      </p:sp>
      <p:sp>
        <p:nvSpPr>
          <p:cNvPr id="14" name="Text 12"/>
          <p:cNvSpPr txBox="1"/>
          <p:nvPr/>
        </p:nvSpPr>
        <p:spPr>
          <a:xfrm>
            <a:off x="8514893" y="2240280"/>
            <a:ext cx="1106424" cy="822960"/>
          </a:xfrm>
          <a:prstGeom prst="rect">
            <a:avLst/>
          </a:prstGeom>
          <a:noFill/>
          <a:ln/>
        </p:spPr>
        <p:txBody>
          <a:bodyPr wrap="square" lIns="0" tIns="0" rIns="0" bIns="0" rtlCol="0" anchor="ctr"/>
          <a:lstStyle/>
          <a:p>
            <a:pPr algn="ctr" indent="0" marL="0">
              <a:buNone/>
            </a:pPr>
            <a:r>
              <a:rPr lang="en-US" sz="1800" b="1" dirty="0">
                <a:solidFill>
                  <a:srgbClr val="0F1B33"/>
                </a:solidFill>
                <a:latin typeface="Malgun Gothic" pitchFamily="34" charset="0"/>
                <a:ea typeface="Malgun Gothic" pitchFamily="34" charset="-122"/>
                <a:cs typeface="Malgun Gothic" pitchFamily="34" charset="-120"/>
              </a:rPr>
              <a:t>+10</a:t>
            </a:r>
            <a:endParaRPr lang="en-US" sz="1800" dirty="0"/>
          </a:p>
        </p:txBody>
      </p:sp>
      <p:sp>
        <p:nvSpPr>
          <p:cNvPr id="15" name="Shape 13"/>
          <p:cNvSpPr/>
          <p:nvPr/>
        </p:nvSpPr>
        <p:spPr>
          <a:xfrm>
            <a:off x="9621317" y="2240280"/>
            <a:ext cx="1991563" cy="822960"/>
          </a:xfrm>
          <a:prstGeom prst="rect">
            <a:avLst/>
          </a:prstGeom>
          <a:solidFill>
            <a:srgbClr val="EEF0F4"/>
          </a:solidFill>
          <a:ln w="19050">
            <a:solidFill>
              <a:srgbClr val="FFFFFF"/>
            </a:solidFill>
            <a:prstDash val="solid"/>
          </a:ln>
        </p:spPr>
      </p:sp>
      <p:sp>
        <p:nvSpPr>
          <p:cNvPr id="16" name="Text 14"/>
          <p:cNvSpPr txBox="1"/>
          <p:nvPr/>
        </p:nvSpPr>
        <p:spPr>
          <a:xfrm>
            <a:off x="9712757" y="2240280"/>
            <a:ext cx="1808683" cy="822960"/>
          </a:xfrm>
          <a:prstGeom prst="rect">
            <a:avLst/>
          </a:prstGeom>
          <a:noFill/>
          <a:ln/>
        </p:spPr>
        <p:txBody>
          <a:bodyPr wrap="square" lIns="0" tIns="0" rIns="0" bIns="0" rtlCol="0" anchor="ctr"/>
          <a:lstStyle/>
          <a:p>
            <a:pPr algn="ctr" indent="0" marL="0">
              <a:buNone/>
            </a:pPr>
            <a:r>
              <a:rPr lang="en-US" sz="1600" b="1" dirty="0">
                <a:solidFill>
                  <a:srgbClr val="D64545"/>
                </a:solidFill>
                <a:latin typeface="Malgun Gothic" pitchFamily="34" charset="0"/>
                <a:ea typeface="Malgun Gothic" pitchFamily="34" charset="-122"/>
                <a:cs typeface="Malgun Gothic" pitchFamily="34" charset="-120"/>
              </a:rPr>
              <a:t>= 82점 → 높음</a:t>
            </a:r>
            <a:endParaRPr lang="en-US" sz="1600" dirty="0"/>
          </a:p>
        </p:txBody>
      </p:sp>
      <p:sp>
        <p:nvSpPr>
          <p:cNvPr id="17" name="Shape 15"/>
          <p:cNvSpPr/>
          <p:nvPr/>
        </p:nvSpPr>
        <p:spPr>
          <a:xfrm>
            <a:off x="548640" y="3456432"/>
            <a:ext cx="237744" cy="237744"/>
          </a:xfrm>
          <a:prstGeom prst="rect">
            <a:avLst/>
          </a:prstGeom>
          <a:solidFill>
            <a:srgbClr val="0F1B33"/>
          </a:solidFill>
          <a:ln w="12700">
            <a:solidFill>
              <a:srgbClr val="0F1B33"/>
            </a:solidFill>
            <a:prstDash val="solid"/>
          </a:ln>
        </p:spPr>
      </p:sp>
      <p:sp>
        <p:nvSpPr>
          <p:cNvPr id="18" name="Text 16"/>
          <p:cNvSpPr txBox="1"/>
          <p:nvPr/>
        </p:nvSpPr>
        <p:spPr>
          <a:xfrm>
            <a:off x="914400" y="3383280"/>
            <a:ext cx="3291840" cy="384048"/>
          </a:xfrm>
          <a:prstGeom prst="rect">
            <a:avLst/>
          </a:prstGeom>
          <a:noFill/>
          <a:ln/>
        </p:spPr>
        <p:txBody>
          <a:bodyPr wrap="square" lIns="0" tIns="0" rIns="0" bIns="0" rtlCol="0" anchor="ctr"/>
          <a:lstStyle/>
          <a:p>
            <a:pPr indent="0" marL="0">
              <a:buNone/>
            </a:pPr>
            <a:r>
              <a:rPr lang="en-US" sz="1300" dirty="0">
                <a:solidFill>
                  <a:srgbClr val="0F1B33"/>
                </a:solidFill>
                <a:latin typeface="Malgun Gothic" pitchFamily="34" charset="0"/>
                <a:ea typeface="Malgun Gothic" pitchFamily="34" charset="-122"/>
                <a:cs typeface="Malgun Gothic" pitchFamily="34" charset="-120"/>
              </a:rPr>
              <a:t>심야 시간 (22–04시)</a:t>
            </a:r>
            <a:endParaRPr lang="en-US" sz="1300" dirty="0"/>
          </a:p>
        </p:txBody>
      </p:sp>
      <p:sp>
        <p:nvSpPr>
          <p:cNvPr id="19" name="Shape 17"/>
          <p:cNvSpPr/>
          <p:nvPr/>
        </p:nvSpPr>
        <p:spPr>
          <a:xfrm>
            <a:off x="4297680" y="3456432"/>
            <a:ext cx="237744" cy="237744"/>
          </a:xfrm>
          <a:prstGeom prst="rect">
            <a:avLst/>
          </a:prstGeom>
          <a:solidFill>
            <a:srgbClr val="3D5A99"/>
          </a:solidFill>
          <a:ln w="12700">
            <a:solidFill>
              <a:srgbClr val="3D5A99"/>
            </a:solidFill>
            <a:prstDash val="solid"/>
          </a:ln>
        </p:spPr>
      </p:sp>
      <p:sp>
        <p:nvSpPr>
          <p:cNvPr id="20" name="Text 18"/>
          <p:cNvSpPr txBox="1"/>
          <p:nvPr/>
        </p:nvSpPr>
        <p:spPr>
          <a:xfrm>
            <a:off x="4663440" y="3383280"/>
            <a:ext cx="3291840" cy="384048"/>
          </a:xfrm>
          <a:prstGeom prst="rect">
            <a:avLst/>
          </a:prstGeom>
          <a:noFill/>
          <a:ln/>
        </p:spPr>
        <p:txBody>
          <a:bodyPr wrap="square" lIns="0" tIns="0" rIns="0" bIns="0" rtlCol="0" anchor="ctr"/>
          <a:lstStyle/>
          <a:p>
            <a:pPr indent="0" marL="0">
              <a:buNone/>
            </a:pPr>
            <a:r>
              <a:rPr lang="en-US" sz="1300" dirty="0">
                <a:solidFill>
                  <a:srgbClr val="0F1B33"/>
                </a:solidFill>
                <a:latin typeface="Malgun Gothic" pitchFamily="34" charset="0"/>
                <a:ea typeface="Malgun Gothic" pitchFamily="34" charset="-122"/>
                <a:cs typeface="Malgun Gothic" pitchFamily="34" charset="-120"/>
              </a:rPr>
              <a:t>가로등 60% → (1−0.6)×30</a:t>
            </a:r>
            <a:endParaRPr lang="en-US" sz="1300" dirty="0"/>
          </a:p>
        </p:txBody>
      </p:sp>
      <p:sp>
        <p:nvSpPr>
          <p:cNvPr id="21" name="Shape 19"/>
          <p:cNvSpPr/>
          <p:nvPr/>
        </p:nvSpPr>
        <p:spPr>
          <a:xfrm>
            <a:off x="8046720" y="3456432"/>
            <a:ext cx="237744" cy="237744"/>
          </a:xfrm>
          <a:prstGeom prst="rect">
            <a:avLst/>
          </a:prstGeom>
          <a:solidFill>
            <a:srgbClr val="6C8CCB"/>
          </a:solidFill>
          <a:ln w="12700">
            <a:solidFill>
              <a:srgbClr val="6C8CCB"/>
            </a:solidFill>
            <a:prstDash val="solid"/>
          </a:ln>
        </p:spPr>
      </p:sp>
      <p:sp>
        <p:nvSpPr>
          <p:cNvPr id="22" name="Text 20"/>
          <p:cNvSpPr txBox="1"/>
          <p:nvPr/>
        </p:nvSpPr>
        <p:spPr>
          <a:xfrm>
            <a:off x="8412480" y="3383280"/>
            <a:ext cx="3291840" cy="384048"/>
          </a:xfrm>
          <a:prstGeom prst="rect">
            <a:avLst/>
          </a:prstGeom>
          <a:noFill/>
          <a:ln/>
        </p:spPr>
        <p:txBody>
          <a:bodyPr wrap="square" lIns="0" tIns="0" rIns="0" bIns="0" rtlCol="0" anchor="ctr"/>
          <a:lstStyle/>
          <a:p>
            <a:pPr indent="0" marL="0">
              <a:buNone/>
            </a:pPr>
            <a:r>
              <a:rPr lang="en-US" sz="1300" dirty="0">
                <a:solidFill>
                  <a:srgbClr val="0F1B33"/>
                </a:solidFill>
                <a:latin typeface="Malgun Gothic" pitchFamily="34" charset="0"/>
                <a:ea typeface="Malgun Gothic" pitchFamily="34" charset="-122"/>
                <a:cs typeface="Malgun Gothic" pitchFamily="34" charset="-120"/>
              </a:rPr>
              <a:t>CCTV 5대 → (10−5)×2</a:t>
            </a:r>
            <a:endParaRPr lang="en-US" sz="1300" dirty="0"/>
          </a:p>
        </p:txBody>
      </p:sp>
      <p:sp>
        <p:nvSpPr>
          <p:cNvPr id="23" name="Shape 21"/>
          <p:cNvSpPr/>
          <p:nvPr/>
        </p:nvSpPr>
        <p:spPr>
          <a:xfrm>
            <a:off x="548640" y="3959352"/>
            <a:ext cx="237744" cy="237744"/>
          </a:xfrm>
          <a:prstGeom prst="rect">
            <a:avLst/>
          </a:prstGeom>
          <a:solidFill>
            <a:srgbClr val="D9A400"/>
          </a:solidFill>
          <a:ln w="12700">
            <a:solidFill>
              <a:srgbClr val="D9A400"/>
            </a:solidFill>
            <a:prstDash val="solid"/>
          </a:ln>
        </p:spPr>
      </p:sp>
      <p:sp>
        <p:nvSpPr>
          <p:cNvPr id="24" name="Text 22"/>
          <p:cNvSpPr txBox="1"/>
          <p:nvPr/>
        </p:nvSpPr>
        <p:spPr>
          <a:xfrm>
            <a:off x="914400" y="3886200"/>
            <a:ext cx="3291840" cy="384048"/>
          </a:xfrm>
          <a:prstGeom prst="rect">
            <a:avLst/>
          </a:prstGeom>
          <a:noFill/>
          <a:ln/>
        </p:spPr>
        <p:txBody>
          <a:bodyPr wrap="square" lIns="0" tIns="0" rIns="0" bIns="0" rtlCol="0" anchor="ctr"/>
          <a:lstStyle/>
          <a:p>
            <a:pPr indent="0" marL="0">
              <a:buNone/>
            </a:pPr>
            <a:r>
              <a:rPr lang="en-US" sz="1300" dirty="0">
                <a:solidFill>
                  <a:srgbClr val="0F1B33"/>
                </a:solidFill>
                <a:latin typeface="Malgun Gothic" pitchFamily="34" charset="0"/>
                <a:ea typeface="Malgun Gothic" pitchFamily="34" charset="-122"/>
                <a:cs typeface="Malgun Gothic" pitchFamily="34" charset="-120"/>
              </a:rPr>
              <a:t>인적 드묾 (23:00 이후)</a:t>
            </a:r>
            <a:endParaRPr lang="en-US" sz="1300" dirty="0"/>
          </a:p>
        </p:txBody>
      </p:sp>
      <p:sp>
        <p:nvSpPr>
          <p:cNvPr id="25" name="Shape 23"/>
          <p:cNvSpPr/>
          <p:nvPr/>
        </p:nvSpPr>
        <p:spPr>
          <a:xfrm>
            <a:off x="4297680" y="3959352"/>
            <a:ext cx="237744" cy="237744"/>
          </a:xfrm>
          <a:prstGeom prst="rect">
            <a:avLst/>
          </a:prstGeom>
          <a:solidFill>
            <a:srgbClr val="F5B700"/>
          </a:solidFill>
          <a:ln w="12700">
            <a:solidFill>
              <a:srgbClr val="F5B700"/>
            </a:solidFill>
            <a:prstDash val="solid"/>
          </a:ln>
        </p:spPr>
      </p:sp>
      <p:sp>
        <p:nvSpPr>
          <p:cNvPr id="26" name="Text 24"/>
          <p:cNvSpPr txBox="1"/>
          <p:nvPr/>
        </p:nvSpPr>
        <p:spPr>
          <a:xfrm>
            <a:off x="4663440" y="3886200"/>
            <a:ext cx="3291840" cy="384048"/>
          </a:xfrm>
          <a:prstGeom prst="rect">
            <a:avLst/>
          </a:prstGeom>
          <a:noFill/>
          <a:ln/>
        </p:spPr>
        <p:txBody>
          <a:bodyPr wrap="square" lIns="0" tIns="0" rIns="0" bIns="0" rtlCol="0" anchor="ctr"/>
          <a:lstStyle/>
          <a:p>
            <a:pPr indent="0" marL="0">
              <a:buNone/>
            </a:pPr>
            <a:r>
              <a:rPr lang="en-US" sz="1300" dirty="0">
                <a:solidFill>
                  <a:srgbClr val="0F1B33"/>
                </a:solidFill>
                <a:latin typeface="Malgun Gothic" pitchFamily="34" charset="0"/>
                <a:ea typeface="Malgun Gothic" pitchFamily="34" charset="-122"/>
                <a:cs typeface="Malgun Gothic" pitchFamily="34" charset="-120"/>
              </a:rPr>
              <a:t>도보 40분 &gt; 20분</a:t>
            </a:r>
            <a:endParaRPr lang="en-US" sz="1300" dirty="0"/>
          </a:p>
        </p:txBody>
      </p:sp>
      <p:sp>
        <p:nvSpPr>
          <p:cNvPr id="27" name="Shape 25"/>
          <p:cNvSpPr/>
          <p:nvPr/>
        </p:nvSpPr>
        <p:spPr>
          <a:xfrm>
            <a:off x="548640" y="4572000"/>
            <a:ext cx="11064240" cy="1600200"/>
          </a:xfrm>
          <a:prstGeom prst="roundRect">
            <a:avLst>
              <a:gd name="adj" fmla="val 6857"/>
            </a:avLst>
          </a:prstGeom>
          <a:solidFill>
            <a:srgbClr val="F3F5F9"/>
          </a:solidFill>
          <a:ln w="12700">
            <a:solidFill>
              <a:srgbClr val="F3F5F9"/>
            </a:solidFill>
            <a:prstDash val="solid"/>
          </a:ln>
        </p:spPr>
      </p:sp>
      <p:sp>
        <p:nvSpPr>
          <p:cNvPr id="28" name="Text 26"/>
          <p:cNvSpPr txBox="1"/>
          <p:nvPr/>
        </p:nvSpPr>
        <p:spPr>
          <a:xfrm>
            <a:off x="868680" y="4709160"/>
            <a:ext cx="10515600" cy="1325880"/>
          </a:xfrm>
          <a:prstGeom prst="rect">
            <a:avLst/>
          </a:prstGeom>
          <a:noFill/>
          <a:ln/>
        </p:spPr>
        <p:txBody>
          <a:bodyPr wrap="square" lIns="0" tIns="0" rIns="0" bIns="0" rtlCol="0" anchor="ctr"/>
          <a:lstStyle/>
          <a:p>
            <a:pPr indent="0" marL="0">
              <a:spcAft>
                <a:spcPts val="600"/>
              </a:spcAft>
              <a:buNone/>
            </a:pPr>
            <a:r>
              <a:rPr lang="en-US" sz="1400" b="1" dirty="0">
                <a:solidFill>
                  <a:srgbClr val="0F1B33"/>
                </a:solidFill>
                <a:latin typeface="Malgun Gothic" pitchFamily="34" charset="0"/>
                <a:ea typeface="Malgun Gothic" pitchFamily="34" charset="-122"/>
                <a:cs typeface="Malgun Gothic" pitchFamily="34" charset="-120"/>
              </a:rPr>
              <a:t>등급  </a:t>
            </a:r>
            <a:pPr indent="0" marL="0">
              <a:spcAft>
                <a:spcPts val="600"/>
              </a:spcAft>
              <a:buNone/>
            </a:pPr>
            <a:r>
              <a:rPr lang="en-US" sz="1400" dirty="0">
                <a:solidFill>
                  <a:srgbClr val="0F1B33"/>
                </a:solidFill>
                <a:latin typeface="Malgun Gothic" pitchFamily="34" charset="0"/>
                <a:ea typeface="Malgun Gothic" pitchFamily="34" charset="-122"/>
                <a:cs typeface="Malgun Gothic" pitchFamily="34" charset="-120"/>
              </a:rPr>
              <a:t>0–29 낮음 · 30–59 보통 · 60+ 높음</a:t>
            </a:r>
            <a:endParaRPr lang="en-US" sz="1400" dirty="0"/>
          </a:p>
          <a:p>
            <a:pPr indent="0" marL="0">
              <a:spcAft>
                <a:spcPts val="600"/>
              </a:spcAft>
              <a:buNone/>
            </a:pPr>
            <a:r>
              <a:rPr lang="en-US" sz="1400" b="1" dirty="0">
                <a:solidFill>
                  <a:srgbClr val="0F1B33"/>
                </a:solidFill>
                <a:latin typeface="Malgun Gothic" pitchFamily="34" charset="0"/>
                <a:ea typeface="Malgun Gothic" pitchFamily="34" charset="-122"/>
                <a:cs typeface="Malgun Gothic" pitchFamily="34" charset="-120"/>
              </a:rPr>
              <a:t>비교  </a:t>
            </a:r>
            <a:pPr indent="0" marL="0">
              <a:spcAft>
                <a:spcPts val="600"/>
              </a:spcAft>
              <a:buNone/>
            </a:pPr>
            <a:r>
              <a:rPr lang="en-US" sz="1400" dirty="0">
                <a:solidFill>
                  <a:srgbClr val="0F1B33"/>
                </a:solidFill>
                <a:latin typeface="Malgun Gothic" pitchFamily="34" charset="0"/>
                <a:ea typeface="Malgun Gothic" pitchFamily="34" charset="-122"/>
                <a:cs typeface="Malgun Gothic" pitchFamily="34" charset="-120"/>
              </a:rPr>
              <a:t>같은 시각 개신동 = 43 (보통)  ·  오후 3시 개신동 = 3 (낮음)</a:t>
            </a:r>
            <a:endParaRPr lang="en-US" sz="1400" dirty="0"/>
          </a:p>
          <a:p>
            <a:pPr indent="0" marL="0">
              <a:spcAft>
                <a:spcPts val="600"/>
              </a:spcAft>
              <a:buNone/>
            </a:pPr>
            <a:r>
              <a:rPr lang="en-US" sz="1400" b="1" dirty="0">
                <a:solidFill>
                  <a:srgbClr val="0F1B33"/>
                </a:solidFill>
                <a:latin typeface="Malgun Gothic" pitchFamily="34" charset="0"/>
                <a:ea typeface="Malgun Gothic" pitchFamily="34" charset="-122"/>
                <a:cs typeface="Malgun Gothic" pitchFamily="34" charset="-120"/>
              </a:rPr>
              <a:t>설계 이유  </a:t>
            </a:r>
            <a:pPr indent="0" marL="0">
              <a:spcAft>
                <a:spcPts val="600"/>
              </a:spcAft>
              <a:buNone/>
            </a:pPr>
            <a:r>
              <a:rPr lang="en-US" sz="1400" dirty="0">
                <a:solidFill>
                  <a:srgbClr val="0F1B33"/>
                </a:solidFill>
                <a:latin typeface="Malgun Gothic" pitchFamily="34" charset="0"/>
                <a:ea typeface="Malgun Gothic" pitchFamily="34" charset="-122"/>
                <a:cs typeface="Malgun Gothic" pitchFamily="34" charset="-120"/>
              </a:rPr>
              <a:t>점수와 함께 reasons 목록을 돌려줘서, LLM이 '왜 위험한지'를 근거로 설명할 수 있게 함</a:t>
            </a:r>
            <a:endParaRPr lang="en-US" sz="1400" dirty="0"/>
          </a:p>
        </p:txBody>
      </p:sp>
      <p:sp>
        <p:nvSpPr>
          <p:cNvPr id="29" name="Text 27"/>
          <p:cNvSpPr txBox="1"/>
          <p:nvPr/>
        </p:nvSpPr>
        <p:spPr>
          <a:xfrm>
            <a:off x="10972800" y="6400800"/>
            <a:ext cx="731520" cy="274320"/>
          </a:xfrm>
          <a:prstGeom prst="rect">
            <a:avLst/>
          </a:prstGeom>
          <a:noFill/>
          <a:ln/>
        </p:spPr>
        <p:txBody>
          <a:bodyPr wrap="square" lIns="0" tIns="0" rIns="0" bIns="0" rtlCol="0" anchor="ctr"/>
          <a:lstStyle/>
          <a:p>
            <a:pPr algn="r" indent="0" marL="0">
              <a:buNone/>
            </a:pPr>
            <a:r>
              <a:rPr lang="en-US" sz="1000" dirty="0">
                <a:solidFill>
                  <a:srgbClr val="5B6478"/>
                </a:solidFill>
                <a:latin typeface="Malgun Gothic" pitchFamily="34" charset="0"/>
                <a:ea typeface="Malgun Gothic" pitchFamily="34" charset="-122"/>
                <a:cs typeface="Malgun Gothic" pitchFamily="34" charset="-120"/>
              </a:rPr>
              <a:t>6 / 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33"/>
        </a:solidFill>
      </p:bgPr>
    </p:bg>
    <p:spTree>
      <p:nvGrpSpPr>
        <p:cNvPr id="1" name=""/>
        <p:cNvGrpSpPr/>
        <p:nvPr/>
      </p:nvGrpSpPr>
      <p:grpSpPr>
        <a:xfrm>
          <a:off x="0" y="0"/>
          <a:ext cx="0" cy="0"/>
          <a:chOff x="0" y="0"/>
          <a:chExt cx="0" cy="0"/>
        </a:xfrm>
      </p:grpSpPr>
      <p:sp>
        <p:nvSpPr>
          <p:cNvPr id="2" name="Text 0"/>
          <p:cNvSpPr txBox="1"/>
          <p:nvPr/>
        </p:nvSpPr>
        <p:spPr>
          <a:xfrm>
            <a:off x="731520" y="640080"/>
            <a:ext cx="5486400" cy="457200"/>
          </a:xfrm>
          <a:prstGeom prst="rect">
            <a:avLst/>
          </a:prstGeom>
          <a:noFill/>
          <a:ln/>
        </p:spPr>
        <p:txBody>
          <a:bodyPr wrap="square" lIns="0" tIns="0" rIns="0" bIns="0" rtlCol="0" anchor="ctr"/>
          <a:lstStyle/>
          <a:p>
            <a:pPr indent="0" marL="0">
              <a:buNone/>
            </a:pPr>
            <a:r>
              <a:rPr lang="en-US" sz="1800" b="1" dirty="0">
                <a:solidFill>
                  <a:srgbClr val="F5B700"/>
                </a:solidFill>
                <a:latin typeface="Malgun Gothic" pitchFamily="34" charset="0"/>
                <a:ea typeface="Malgun Gothic" pitchFamily="34" charset="-122"/>
                <a:cs typeface="Malgun Gothic" pitchFamily="34" charset="-120"/>
              </a:rPr>
              <a:t>정리</a:t>
            </a:r>
            <a:endParaRPr lang="en-US" sz="1800" dirty="0"/>
          </a:p>
        </p:txBody>
      </p:sp>
      <p:sp>
        <p:nvSpPr>
          <p:cNvPr id="3" name="Text 1"/>
          <p:cNvSpPr txBox="1"/>
          <p:nvPr/>
        </p:nvSpPr>
        <p:spPr>
          <a:xfrm>
            <a:off x="731520" y="109728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Malgun Gothic" pitchFamily="34" charset="0"/>
                <a:ea typeface="Malgun Gothic" pitchFamily="34" charset="-122"/>
                <a:cs typeface="Malgun Gothic" pitchFamily="34" charset="-120"/>
              </a:rPr>
              <a:t>질문 한 번으로, 안전한 귀갓길까지</a:t>
            </a:r>
            <a:endParaRPr lang="en-US" sz="3400" dirty="0"/>
          </a:p>
        </p:txBody>
      </p:sp>
      <p:pic>
        <p:nvPicPr>
          <p:cNvPr id="4" name="Image 0" descr="preencoded.png">    </p:cNvPr>
          <p:cNvPicPr>
            <a:picLocks noChangeAspect="1"/>
          </p:cNvPicPr>
          <p:nvPr/>
        </p:nvPicPr>
        <p:blipFill>
          <a:blip r:embed="rId1"/>
          <a:stretch>
            <a:fillRect/>
          </a:stretch>
        </p:blipFill>
        <p:spPr>
          <a:xfrm>
            <a:off x="731520" y="2331720"/>
            <a:ext cx="347472" cy="347472"/>
          </a:xfrm>
          <a:prstGeom prst="rect">
            <a:avLst/>
          </a:prstGeom>
        </p:spPr>
      </p:pic>
      <p:sp>
        <p:nvSpPr>
          <p:cNvPr id="5" name="Text 2"/>
          <p:cNvSpPr txBox="1"/>
          <p:nvPr/>
        </p:nvSpPr>
        <p:spPr>
          <a:xfrm>
            <a:off x="1280160" y="2286000"/>
            <a:ext cx="6858000" cy="457200"/>
          </a:xfrm>
          <a:prstGeom prst="rect">
            <a:avLst/>
          </a:prstGeom>
          <a:noFill/>
          <a:ln/>
        </p:spPr>
        <p:txBody>
          <a:bodyPr wrap="square" lIns="0" tIns="0" rIns="0" bIns="0" rtlCol="0" anchor="ctr"/>
          <a:lstStyle/>
          <a:p>
            <a:pPr indent="0" marL="0">
              <a:buNone/>
            </a:pPr>
            <a:r>
              <a:rPr lang="en-US" sz="1800" dirty="0">
                <a:solidFill>
                  <a:srgbClr val="E3E8F2"/>
                </a:solidFill>
                <a:latin typeface="Malgun Gothic" pitchFamily="34" charset="0"/>
                <a:ea typeface="Malgun Gothic" pitchFamily="34" charset="-122"/>
                <a:cs typeface="Malgun Gothic" pitchFamily="34" charset="-120"/>
              </a:rPr>
              <a:t>도구 5개 + 계산기 · read / compute / write 모두</a:t>
            </a:r>
            <a:endParaRPr lang="en-US" sz="1800" dirty="0"/>
          </a:p>
        </p:txBody>
      </p:sp>
      <p:pic>
        <p:nvPicPr>
          <p:cNvPr id="6" name="Image 1" descr="preencoded.png">    </p:cNvPr>
          <p:cNvPicPr>
            <a:picLocks noChangeAspect="1"/>
          </p:cNvPicPr>
          <p:nvPr/>
        </p:nvPicPr>
        <p:blipFill>
          <a:blip r:embed="rId2"/>
          <a:stretch>
            <a:fillRect/>
          </a:stretch>
        </p:blipFill>
        <p:spPr>
          <a:xfrm>
            <a:off x="731520" y="2971800"/>
            <a:ext cx="347472" cy="347472"/>
          </a:xfrm>
          <a:prstGeom prst="rect">
            <a:avLst/>
          </a:prstGeom>
        </p:spPr>
      </p:pic>
      <p:sp>
        <p:nvSpPr>
          <p:cNvPr id="7" name="Text 3"/>
          <p:cNvSpPr txBox="1"/>
          <p:nvPr/>
        </p:nvSpPr>
        <p:spPr>
          <a:xfrm>
            <a:off x="1280160" y="2926080"/>
            <a:ext cx="6858000" cy="457200"/>
          </a:xfrm>
          <a:prstGeom prst="rect">
            <a:avLst/>
          </a:prstGeom>
          <a:noFill/>
          <a:ln/>
        </p:spPr>
        <p:txBody>
          <a:bodyPr wrap="square" lIns="0" tIns="0" rIns="0" bIns="0" rtlCol="0" anchor="ctr"/>
          <a:lstStyle/>
          <a:p>
            <a:pPr indent="0" marL="0">
              <a:buNone/>
            </a:pPr>
            <a:r>
              <a:rPr lang="en-US" sz="1800" dirty="0">
                <a:solidFill>
                  <a:srgbClr val="E3E8F2"/>
                </a:solidFill>
                <a:latin typeface="Malgun Gothic" pitchFamily="34" charset="0"/>
                <a:ea typeface="Malgun Gothic" pitchFamily="34" charset="-122"/>
                <a:cs typeface="Malgun Gothic" pitchFamily="34" charset="-120"/>
              </a:rPr>
              <a:t>숫자는 전부 도구가 계산 (위험도·막차·택시비)</a:t>
            </a:r>
            <a:endParaRPr lang="en-US" sz="1800" dirty="0"/>
          </a:p>
        </p:txBody>
      </p:sp>
      <p:pic>
        <p:nvPicPr>
          <p:cNvPr id="8" name="Image 2" descr="preencoded.png">    </p:cNvPr>
          <p:cNvPicPr>
            <a:picLocks noChangeAspect="1"/>
          </p:cNvPicPr>
          <p:nvPr/>
        </p:nvPicPr>
        <p:blipFill>
          <a:blip r:embed="rId3"/>
          <a:stretch>
            <a:fillRect/>
          </a:stretch>
        </p:blipFill>
        <p:spPr>
          <a:xfrm>
            <a:off x="731520" y="3611880"/>
            <a:ext cx="347472" cy="347472"/>
          </a:xfrm>
          <a:prstGeom prst="rect">
            <a:avLst/>
          </a:prstGeom>
        </p:spPr>
      </p:pic>
      <p:sp>
        <p:nvSpPr>
          <p:cNvPr id="9" name="Text 4"/>
          <p:cNvSpPr txBox="1"/>
          <p:nvPr/>
        </p:nvSpPr>
        <p:spPr>
          <a:xfrm>
            <a:off x="1280160" y="3566160"/>
            <a:ext cx="6858000" cy="457200"/>
          </a:xfrm>
          <a:prstGeom prst="rect">
            <a:avLst/>
          </a:prstGeom>
          <a:noFill/>
          <a:ln/>
        </p:spPr>
        <p:txBody>
          <a:bodyPr wrap="square" lIns="0" tIns="0" rIns="0" bIns="0" rtlCol="0" anchor="ctr"/>
          <a:lstStyle/>
          <a:p>
            <a:pPr indent="0" marL="0">
              <a:buNone/>
            </a:pPr>
            <a:r>
              <a:rPr lang="en-US" sz="1800" dirty="0">
                <a:solidFill>
                  <a:srgbClr val="E3E8F2"/>
                </a:solidFill>
                <a:latin typeface="Malgun Gothic" pitchFamily="34" charset="0"/>
                <a:ea typeface="Malgun Gothic" pitchFamily="34" charset="-122"/>
                <a:cs typeface="Malgun Gothic" pitchFamily="34" charset="-120"/>
              </a:rPr>
              <a:t>오류는 힌트와 함께 → 에이전트가 스스로 회복</a:t>
            </a:r>
            <a:endParaRPr lang="en-US" sz="1800" dirty="0"/>
          </a:p>
        </p:txBody>
      </p:sp>
      <p:pic>
        <p:nvPicPr>
          <p:cNvPr id="10" name="Image 3" descr="preencoded.png">    </p:cNvPr>
          <p:cNvPicPr>
            <a:picLocks noChangeAspect="1"/>
          </p:cNvPicPr>
          <p:nvPr/>
        </p:nvPicPr>
        <p:blipFill>
          <a:blip r:embed="rId4"/>
          <a:stretch>
            <a:fillRect/>
          </a:stretch>
        </p:blipFill>
        <p:spPr>
          <a:xfrm>
            <a:off x="731520" y="4251960"/>
            <a:ext cx="347472" cy="347472"/>
          </a:xfrm>
          <a:prstGeom prst="rect">
            <a:avLst/>
          </a:prstGeom>
        </p:spPr>
      </p:pic>
      <p:sp>
        <p:nvSpPr>
          <p:cNvPr id="11" name="Text 5"/>
          <p:cNvSpPr txBox="1"/>
          <p:nvPr/>
        </p:nvSpPr>
        <p:spPr>
          <a:xfrm>
            <a:off x="1280160" y="4206240"/>
            <a:ext cx="6858000" cy="457200"/>
          </a:xfrm>
          <a:prstGeom prst="rect">
            <a:avLst/>
          </a:prstGeom>
          <a:noFill/>
          <a:ln/>
        </p:spPr>
        <p:txBody>
          <a:bodyPr wrap="square" lIns="0" tIns="0" rIns="0" bIns="0" rtlCol="0" anchor="ctr"/>
          <a:lstStyle/>
          <a:p>
            <a:pPr indent="0" marL="0">
              <a:buNone/>
            </a:pPr>
            <a:r>
              <a:rPr lang="en-US" sz="1800" dirty="0">
                <a:solidFill>
                  <a:srgbClr val="E3E8F2"/>
                </a:solidFill>
                <a:latin typeface="Malgun Gothic" pitchFamily="34" charset="0"/>
                <a:ea typeface="Malgun Gothic" pitchFamily="34" charset="-122"/>
                <a:cs typeface="Malgun Gothic" pitchFamily="34" charset="-120"/>
              </a:rPr>
              <a:t>쓰기 전 확인 + 위급 시 112 안내</a:t>
            </a:r>
            <a:endParaRPr lang="en-US" sz="1800" dirty="0"/>
          </a:p>
        </p:txBody>
      </p:sp>
      <p:sp>
        <p:nvSpPr>
          <p:cNvPr id="12" name="Shape 6"/>
          <p:cNvSpPr/>
          <p:nvPr/>
        </p:nvSpPr>
        <p:spPr>
          <a:xfrm>
            <a:off x="8503920" y="2240280"/>
            <a:ext cx="3108960" cy="2514600"/>
          </a:xfrm>
          <a:prstGeom prst="roundRect">
            <a:avLst>
              <a:gd name="adj" fmla="val 4364"/>
            </a:avLst>
          </a:prstGeom>
          <a:solidFill>
            <a:srgbClr val="1B2A4A"/>
          </a:solidFill>
          <a:ln w="12700">
            <a:solidFill>
              <a:srgbClr val="1B2A4A"/>
            </a:solidFill>
            <a:prstDash val="solid"/>
          </a:ln>
        </p:spPr>
      </p:sp>
      <p:sp>
        <p:nvSpPr>
          <p:cNvPr id="13" name="Shape 7"/>
          <p:cNvSpPr/>
          <p:nvPr/>
        </p:nvSpPr>
        <p:spPr>
          <a:xfrm>
            <a:off x="9646920" y="2514600"/>
            <a:ext cx="822960" cy="822960"/>
          </a:xfrm>
          <a:prstGeom prst="ellipse">
            <a:avLst/>
          </a:prstGeom>
          <a:solidFill>
            <a:srgbClr val="F5B700"/>
          </a:solidFill>
          <a:ln w="12700">
            <a:solidFill>
              <a:srgbClr val="F5B700"/>
            </a:solidFill>
            <a:prstDash val="solid"/>
          </a:ln>
        </p:spPr>
      </p:sp>
      <p:pic>
        <p:nvPicPr>
          <p:cNvPr id="14" name="Image 4" descr="preencoded.png">    </p:cNvPr>
          <p:cNvPicPr>
            <a:picLocks noChangeAspect="1"/>
          </p:cNvPicPr>
          <p:nvPr/>
        </p:nvPicPr>
        <p:blipFill>
          <a:blip r:embed="rId5"/>
          <a:stretch>
            <a:fillRect/>
          </a:stretch>
        </p:blipFill>
        <p:spPr>
          <a:xfrm>
            <a:off x="9852660" y="2720340"/>
            <a:ext cx="411480" cy="411480"/>
          </a:xfrm>
          <a:prstGeom prst="rect">
            <a:avLst/>
          </a:prstGeom>
        </p:spPr>
      </p:pic>
      <p:sp>
        <p:nvSpPr>
          <p:cNvPr id="15" name="Text 8"/>
          <p:cNvSpPr txBox="1"/>
          <p:nvPr/>
        </p:nvSpPr>
        <p:spPr>
          <a:xfrm>
            <a:off x="8503920" y="3474720"/>
            <a:ext cx="310896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Q &amp; A</a:t>
            </a:r>
            <a:endParaRPr lang="en-US" sz="2600" dirty="0"/>
          </a:p>
        </p:txBody>
      </p:sp>
      <p:sp>
        <p:nvSpPr>
          <p:cNvPr id="16" name="Text 9"/>
          <p:cNvSpPr txBox="1"/>
          <p:nvPr/>
        </p:nvSpPr>
        <p:spPr>
          <a:xfrm>
            <a:off x="8503920" y="4069080"/>
            <a:ext cx="3108960" cy="365760"/>
          </a:xfrm>
          <a:prstGeom prst="rect">
            <a:avLst/>
          </a:prstGeom>
          <a:noFill/>
          <a:ln/>
        </p:spPr>
        <p:txBody>
          <a:bodyPr wrap="square" lIns="0" tIns="0" rIns="0" bIns="0" rtlCol="0" anchor="ctr"/>
          <a:lstStyle/>
          <a:p>
            <a:pPr algn="ctr" indent="0" marL="0">
              <a:buNone/>
            </a:pPr>
            <a:r>
              <a:rPr lang="en-US" sz="1300" dirty="0">
                <a:solidFill>
                  <a:srgbClr val="B8C2D9"/>
                </a:solidFill>
                <a:latin typeface="Malgun Gothic" pitchFamily="34" charset="0"/>
                <a:ea typeface="Malgun Gothic" pitchFamily="34" charset="-122"/>
                <a:cs typeface="Malgun Gothic" pitchFamily="34" charset="-120"/>
              </a:rPr>
              <a:t>코드 설명: 담당 팀원</a:t>
            </a:r>
            <a:endParaRPr lang="en-US" sz="1300" dirty="0"/>
          </a:p>
        </p:txBody>
      </p:sp>
      <p:sp>
        <p:nvSpPr>
          <p:cNvPr id="17" name="Text 10"/>
          <p:cNvSpPr txBox="1"/>
          <p:nvPr/>
        </p:nvSpPr>
        <p:spPr>
          <a:xfrm>
            <a:off x="731520" y="5760720"/>
            <a:ext cx="7315200" cy="365760"/>
          </a:xfrm>
          <a:prstGeom prst="rect">
            <a:avLst/>
          </a:prstGeom>
          <a:noFill/>
          <a:ln/>
        </p:spPr>
        <p:txBody>
          <a:bodyPr wrap="square" lIns="0" tIns="0" rIns="0" bIns="0" rtlCol="0" anchor="ctr"/>
          <a:lstStyle/>
          <a:p>
            <a:pPr indent="0" marL="0">
              <a:buNone/>
            </a:pPr>
            <a:r>
              <a:rPr lang="en-US" sz="1400" dirty="0">
                <a:solidFill>
                  <a:srgbClr val="8B96B0"/>
                </a:solidFill>
                <a:latin typeface="Consolas" pitchFamily="34" charset="0"/>
                <a:ea typeface="Consolas" pitchFamily="34" charset="-122"/>
                <a:cs typeface="Consolas" pitchFamily="34" charset="-120"/>
              </a:rPr>
              <a:t>github.com/gysosm-glitch/night-care</a:t>
            </a:r>
            <a:endParaRPr lang="en-US" sz="1400" dirty="0"/>
          </a:p>
        </p:txBody>
      </p:sp>
      <p:sp>
        <p:nvSpPr>
          <p:cNvPr id="18" name="Text 11"/>
          <p:cNvSpPr txBox="1"/>
          <p:nvPr/>
        </p:nvSpPr>
        <p:spPr>
          <a:xfrm>
            <a:off x="731520" y="6126480"/>
            <a:ext cx="7315200" cy="274320"/>
          </a:xfrm>
          <a:prstGeom prst="rect">
            <a:avLst/>
          </a:prstGeom>
          <a:noFill/>
          <a:ln/>
        </p:spPr>
        <p:txBody>
          <a:bodyPr wrap="square" lIns="0" tIns="0" rIns="0" bIns="0" rtlCol="0" anchor="ctr"/>
          <a:lstStyle/>
          <a:p>
            <a:pPr indent="0" marL="0">
              <a:buNone/>
            </a:pPr>
            <a:r>
              <a:rPr lang="en-US" sz="1100" dirty="0">
                <a:solidFill>
                  <a:srgbClr val="8B96B0"/>
                </a:solidFill>
                <a:latin typeface="Malgun Gothic" pitchFamily="34" charset="0"/>
                <a:ea typeface="Malgun Gothic" pitchFamily="34" charset="-122"/>
                <a:cs typeface="Malgun Gothic" pitchFamily="34" charset="-120"/>
              </a:rPr>
              <a:t>* 모든 데이터는 데모용 가상 데이터입니다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밤길 지킴이 - 청주 밤길 안심 귀가 에이전트</dc:title>
  <dc:subject>PptxGenJS Presentation</dc:subject>
  <dc:creator>PptxGenJS</dc:creator>
  <cp:lastModifiedBy>PptxGenJS</cp:lastModifiedBy>
  <cp:revision>1</cp:revision>
  <dcterms:created xsi:type="dcterms:W3CDTF">2026-10-01T06:11:31Z</dcterms:created>
  <dcterms:modified xsi:type="dcterms:W3CDTF">2026-10-01T06:11:31Z</dcterms:modified>
</cp:coreProperties>
</file>